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 01 頁｜MetaFind｜標註更新與評估計畫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建議時間：75 秒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今天的報告分成兩部分。第一部分是標註更新：我們如何讓模型從不同角度看同一件三維物件，再把看到的內容整理成一張電腦能讀取的資料卡，以及目前這批工作處理到哪裡。第二部分是評估計畫：資料準備好以後，要用哪些題目比較模型，又怎麼判斷它是否找到了正確資產。大家可以把整個系統想成一座三維物件圖書館。標註是在替每件物件建立目錄卡，訓練是在教模型把不同線索連到同一件物件，評估則是在檢查它能否從候選清單找到符合需求的物件。這三件事需要分開看：資料卡成功寫出來，不代表每個描述都完全正確；程式跑得通，也不代表模型已達到論文成績。目前最新完整資料集的正式比較還沒有執行，因此這份報告會清楚區分已觀察到的進度、已完成的小型流程驗證，以及接下來要執行的評估，不把計畫說成結果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本頁重點：先把物件資料準備清楚，再用同一套題目比較模型。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來源與界線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docs/paper/metafind_source/2methdology.tex#L28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docs/CUSTOM_TABLE1_EVALUATION.md#L3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output/validation/ppt_annotation_eval_20260908/annotation_progress_041230.json#L4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 02 頁｜讓模型看完物件，再填資料卡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建議時間：75 秒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可以想像我們要請一位助理介紹一張椅子。如果只給正面照片，他可能看不清背面結構，也不容易分辨座墊和椅腳的材質。因此，現在的流程先從十一個角度取得同一件物件的圖片，透明背景先合成黑底，再把十一張圖各自作為圖片輸入，放進同一個對話回合，讓模型綜合判讀。這裡有一個容易誤會的地方：我們沒有把十一張圖縮小後拼成一張格子圖，也不是每張圖分別請模型寫一份答案。模型在同一回合收到全部圖片，以及 LVIS 類別提示與 Figure 2 欄位範例，然後輸出一份結構化資料。正常情況下一次回答完成；回答不合格式時，才會進入後面要說的修正流程。論文確實提到十一個正交視角與視覺語言模型標註，但同一回合如何包裝圖片、實際提示內容和相機安排，是本地選擇；目前渲染為透視投影，不能視為已對齊論文的正交描述。我們保留這些設定，目的是讓後續能知道資料究竟怎麼產生，而不是把未公開的作者細節猜成已知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本頁重點：11 張圖片分別輸入同一個對話回合，最後產生一份 JSON。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來源與界線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docs/paper/metafind_source/2methdology.tex#L28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metafind/data/annotate_run.py#L787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metafind/data/annotate_v10.py#L295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 03 頁｜資料卡記錄什麼？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建議時間：75 秒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這一頁用目前資料中一張真實的椅子作例子，不是另外編造的示意資料。它的資產編號以八五零五九七開頭，資料卡記錄為椅子，材質是木頭和布，描述提到木製餐椅以及粉紅色的軟墊座面。原本的十三個主要欄位，在簡報上整理成四類：先說它是什麼，再說材質，接著是尺寸重量，最後是通常放在哪裡。這張椅子的寬、深、高被估為四十五、四十五、九十公分，重量估為八公斤。需要特別強調，這些是模型根據圖片與常識估出的現實尺寸和重量，不是拿尺或秤量到的數值；體積則由程式把三個尺寸相乘，屬於估計的外框體積；公分與公斤是目前採用的單位，論文圖例沒有明寫單位。放在地板的旗標為真，意思是這類物件通常放在地板，不是已經完成了場景擺放。除這十三個主要欄位外，實際檔案還記錄模型、版本、輸入圖片和嘗試次數等來源資訊。資料卡把物件描述得更完整，但它仍需要後續檢查，不能因為欄位齊全就直接當成全部正確的物理事實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本頁重點：13 個主要欄位，整理成四類；尺寸與重量是模型估計。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來源與界線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/home/kyzen/metafind/metafind_data_paper/outputs/annotations/8505977020be4fd194854ad3d9808222.json#L1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metafind/data/annotate_v10.py#L71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metafind/data/annotate_v10.py#L202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docs/paper/metafind_source/2methdology.tex#L24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 04 頁｜有回答，還要檢查才能收錄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建議時間：75 秒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模型願意回答，和答案可以收錄，是兩件不同的事。程式會先看必要欄位是否缺漏，再檢查內容能否解析，以及文字、數字、布林值和數值範圍是否符合目前的規則。例如尺寸不合理，或者放置欄位不是可接受的真假值，就會把具體錯誤回傳給模型修正。這裡的上限是總共三次作答，也就是第一次回答加上最多兩次修正，不是第一次之外還有三次機會。前兩次採確定性生成，第三次才使用固定種子的抽樣。如果最後仍然無法通過，就保留失敗紀錄並隔離。記憶體不足這類資源錯誤，不是換一句提示就能修好，因此直接記為失敗，不走文字修正。這些檢查可以擋住部分不完整或不合理的答案，但不能保證材質判斷和尺寸估計全都正確。和論文相比，十一個視角的數量一致；論文用的是 GPT-4o，目前使用本地 Gemma 四的十二B模型，以 BF16 載入。具體提示、相機安排、驗證範圍及重試方式，都應清楚標示為本地選擇，不能說成作者完整公開的設定。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本頁重點：先檢查，再收錄；最多三次作答，資源錯誤直接記為失敗。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來源與界線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metafind/data/annotate_v10.py#L55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metafind/data/annotate_v10.py#L174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metafind/data/annotate_v10.py#L319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metafind/data/annotate_run.py#L646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metafind/data/annotate_run.py#L1364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docs/paper/metafind_source/2methdology.tex#L28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 05 頁｜標註進度與預估完成時間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建議時間：75 秒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這一頁的數字固定在台北時間九月八日凌晨四點十二分三十秒，之後程序還會繼續跑，所以不能把它當作觀看簡報當下的即時數字。本輪共有四萬六千零四件排入處理，已處理兩萬五千零八十九件，其中兩萬五千零六十三件成功寫出，二十六件失敗並隔離，還剩兩萬零九百一十五件。因此百分之五十四點五四代表處理進度，包含成功與失敗，不是成功率，也不等於所有標註都已人工確認。近期觀察到的速度大約每分鐘十一點六九到十一點八七件，用這個速度推算，大致落在九月九日上午。因此簡報保留上午九點到十二點作為規劃時間窗。這個時間窗不是統計信賴區間，也不是完成承諾；前提是程序不中斷，後續難例與修正比例沒有明顯增加。這裡只計算本輪標註佇列處理，沒有包含後面的資料編碼、訓練、評估或人工排除整理。隔離的二十六件也不能被當成成功，更不能拿來替代其他批次的正式失敗計帳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本頁重點：本輪已處理 54.54%；規劃於 9/9 上午完成標註佇列。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來源與界線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output/validation/ppt_annotation_eval_20260908/annotation_progress_041230.json#L4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output/validation/ppt_annotation_eval_20260908/annotation_progress_041230.json#L60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output/validation/ppt_annotation_eval_20260908/annotation_progress_041230.json#L91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output/validation/ppt_annotation_eval_20260908/annotation_progress_041230.json#L135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 06 頁｜用真實需求，比較三種找家具的方法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建議時間：75 秒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這次主評估改成更接近使用者真正找家具的情境：我有一個需求，想從物件庫找出合適的選項，不一定要找回照片原本對應的那個檔案。比較的三種方法仍然相同。第一種是官方預訓練 ULIP-2 加上本地平均融合；第二種是經過物件配對訓練的 Stage 1；第三種是 Stage 2 訓練後、關閉場景資訊的查詢融合。第三列沿用指定 Stage 1 的候選向量，避免換查詢模型時連候選也一起改變。線索可以是需求文字、參考照片或參考點雲；點雲就像用小點畫出的立體輪廓。有提供足夠參考資料時，才安排七種模態組合。沒有照片或點雲的需求，不能自動補上某個正解資產的資料。我們會事先固定每個條件的題目與分母，因此不再承諾固定四十二組主評估；原本兩觀測乘三方法乘七模態的四十二組，只保留作同資產辨識診斷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本頁重點：主評估問「是否符合需求」；三種方法使用同一題目、候選與正解。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來源與界線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docs/INTENT_RETRIEVAL_EVALUATION.md#L21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metafind/eval/custom_models.py#L52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metafind/eval/custom_table1.py#L64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docs/paper/metafind_source/3experiments.tex#L24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 07 頁｜一道需求，可以有好幾個合適答案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建議時間：75 秒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例如使用者說，想找一張適合小餐桌、木質外觀的餐椅。這是一個需求，不是一個資產編號；物件庫裡可能有好幾張不同椅子都能接受。投影片上的例子完全是教學示意：八個候選裡，事先有三個被判定合適，模型把它們排在第二、第六和第八名。第一名沒有找對，所以這題的 Hit@1 是零；前五名已有一個合適答案，因此 Hit@5 算成功。但前五名只找回三個正解中的一個，所以真正的 Recall@5 是三分之一。正式報告會把這些逐題結果平均。這兩種指標回答不同問題，不能都叫成論文的 R@5。還有，答案必須依模型當下看得到的線索判定。只有照片的條件，不能拿沒有提供的文字尺寸限制偷偷扣分。因此同一個需求在文字、圖片或組合條件下，會各自有一份審核答案。這些真實題目與答案目前仍待建立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本頁重點：主要看 Hit@1／Hit@5：前 1／5 名是否至少有一個可接受選項。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來源與界線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docs/INTENT_RETRIEVAL_EVALUATION.md#L9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docs/INTENT_RETRIEVAL_EVALUATION.md#L116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 08 頁｜新主評估與論文、舊診斷分開看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建議時間：75 秒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這一頁先畫清楚比較界線。論文明確列出七種模態，並稱指標為 R@1 和 R@5，但沒有完整公開每道查詢如何形成，以及所有可接受答案怎麼標註。因此，我們不能說作者一定採用同一資產作唯一正解，也不能說新的需求評估就是作者原始設定。新的主指標明確叫 Hit，另外報真正的 Recall，避免名稱相同卻分母不同。點雲基線也要注意：論文提到其他模型在只有點雲時，兩邊用了相同 embedding；本地平均基線的候選一直是文字、圖片和點雲的融合，並不具備必然自我相等的條件。此外，完整人工審核可能先從固定小候選池開始，但不能在看見分數後刪掉困難候選，也不能把小池高分直接對照論文的大池結果。CLIP 凍結與已知選模重疊仍需保留。原本同 UID 的四十二組繼續作診斷，與新主評估分開呈現。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本頁重點：這是已批准的本地需求檢索評估；不冒充作者 Table 1 原始協定。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來源與界線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docs/INTENT_RETRIEVAL_EVALUATION.md#L142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docs/paper/metafind_source/3experiments.tex#L15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docs/paper/metafind_source/3experiments.tex#L18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docs/paper/metafind_source/3experiments.tex#L24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docs/CUSTOM_TABLE1_EVALUATION.md#L48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 09 頁｜先寫題、審答案、封存，最後才跑模型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建議時間：75 秒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正式評估最重要的順序，是先建立題目和答案，再讓模型作答。首先，替每個家具需求建立獨立編號，保存實際提供的文字、照片或點雲，以及誰提供、從哪裡取得。ULIP-2 原始描述可以協助起草，但還須人工確認是否表達這道需求，不能自動產生正解。接著，審核者只能依該模態條件看得到的線索，判斷固定候選池裡每件物件能否接受。每件都要標成零或一，至少有一個可接受答案；漏標不能直接算零。如果池子太大，可以在看模型結果之前先決定較小的固定池，並完整審完。Gemma 標出的尺寸與材質可以作參考，但它們是估計，不能直接冒充量測真值或替代已聲明的審核依據。答案、題目、模型與候選版本都封存後，才開始排名。若看過結果又改規則或答案，就需要新版本並揭露其開發性質。目前真實需求與完整人工正解仍待建立，新主評估沒有正式分數；既有程式或同資產診斷也不能替這件事宣布完成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本頁重點：每題、每個模態條件，都先審完固定候選池；未審完就是待完成。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來源與界線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docs/INTENT_RETRIEVAL_EVALUATION.md#L54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metafind/data/annotate_v10.py#L268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docs/INTENT_RETRIEVAL_EVALUATION.md#L68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 10 頁｜標註後，補齊資料、模型與需求考卷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建議時間：75 秒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標註完成以後，第一步仍是把成功資料、真正失敗與人工排除分清楚。接著建立文字與圖片特徵，固定資料切分，完成需要的資料預檢。模型部分先訓練 Stage 1，核驗並固定候選向量，再準備房間、節點與關係資料，進行 Stage 2；其中關閉場景資訊的評估列沿用 Stage 1 的候選庫。同時可以提早開始另一條工作：撰寫真實家具需求，取得必要的參考照片或點雲，為每個需求編號。最花判斷的部分，是依每種可見線索，審完固定候選池裡哪些物件能接受。只有這份考卷與答案在模型排名前封存，才進入正式主評估。最後報告 Hit@1、Hit@5、輔助 Recall、每條件題數與候選數，原本同資產辨識的診斷另列。標註佇列結束不會自動替我們寫題或完成人工審核，也不代表新評估已執行。這次回答的是找家具是否合適，沒有因此完成場景品質或論文 Table 2 的驗證。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本頁重點：完整題目與正解先封存，模型準備好後再另行執行主評估。</a:t>
            </a:r>
          </a:p>
          <a:p/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來源與界線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docs/INTENT_RETRIEVAL_EVALUATION.md#L261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tools/chain_paper_stage1.sh#L112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tools/chain_paper_stage2.sh#L41</a:t>
            </a:r>
          </a:p>
          <a:p>
            <a:r>
              <a:rPr sz="12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docs/SCENE_SCORES.md#L3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32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0789920" cy="3657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ED3CF"/>
                </a:solidFill>
                <a:latin typeface="Noto Sans CJK TC"/>
                <a:ea typeface="Noto Sans CJK TC"/>
                <a:cs typeface="Noto Sans CJK TC"/>
              </a:rPr>
              <a:t>METAFIND  /  RESEARCH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536192"/>
            <a:ext cx="6446520" cy="180136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45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標註更新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45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與評估計畫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3694176"/>
            <a:ext cx="6858000" cy="59436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0">
                <a:solidFill>
                  <a:srgbClr val="C6D8E1"/>
                </a:solidFill>
                <a:latin typeface="Noto Sans CJK TC"/>
                <a:ea typeface="Noto Sans CJK TC"/>
                <a:cs typeface="Noto Sans CJK TC"/>
              </a:rPr>
              <a:t>現在怎麼做，完成後怎麼驗證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6181344"/>
            <a:ext cx="969264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A9C2CD"/>
                </a:solidFill>
                <a:latin typeface="Noto Sans CJK TC"/>
                <a:ea typeface="Noto Sans CJK TC"/>
                <a:cs typeface="Noto Sans CJK TC"/>
              </a:rPr>
              <a:t>2026.09.08  ·  10 頁  ·  約 12–13 分鐘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18704" y="1572768"/>
            <a:ext cx="3575304" cy="1673352"/>
          </a:xfrm>
          <a:prstGeom prst="roundRect">
            <a:avLst>
              <a:gd name="adj" fmla="val 8000"/>
            </a:avLst>
          </a:prstGeom>
          <a:solidFill>
            <a:srgbClr val="234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9016" y="1737360"/>
            <a:ext cx="502920" cy="3017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8ED3CF"/>
                </a:solidFill>
                <a:latin typeface="Noto Sans CJK TC"/>
                <a:ea typeface="Noto Sans CJK TC"/>
                <a:cs typeface="Noto Sans CJK T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2185416"/>
            <a:ext cx="3127248" cy="4572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目前的標註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743200"/>
            <a:ext cx="3127248" cy="2651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6D8E1"/>
                </a:solidFill>
                <a:latin typeface="Noto Sans CJK TC"/>
                <a:ea typeface="Noto Sans CJK TC"/>
                <a:cs typeface="Noto Sans CJK TC"/>
              </a:rPr>
              <a:t>方法・資料卡・完成時間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18704" y="3566160"/>
            <a:ext cx="3575304" cy="1673352"/>
          </a:xfrm>
          <a:prstGeom prst="roundRect">
            <a:avLst>
              <a:gd name="adj" fmla="val 8000"/>
            </a:avLst>
          </a:prstGeom>
          <a:solidFill>
            <a:srgbClr val="234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29016" y="3730752"/>
            <a:ext cx="502920" cy="30175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8ED3CF"/>
                </a:solidFill>
                <a:latin typeface="Noto Sans CJK TC"/>
                <a:ea typeface="Noto Sans CJK TC"/>
                <a:cs typeface="Noto Sans CJK T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4178808"/>
            <a:ext cx="3127248" cy="4572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接下來的評估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4736592"/>
            <a:ext cx="3127248" cy="2651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6D8E1"/>
                </a:solidFill>
                <a:latin typeface="Noto Sans CJK TC"/>
                <a:ea typeface="Noto Sans CJK TC"/>
                <a:cs typeface="Noto Sans CJK TC"/>
              </a:rPr>
              <a:t>測試設計・差異・後續流程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37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1207" y="219456"/>
            <a:ext cx="10424160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標註更新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30936"/>
            <a:ext cx="11119104" cy="9235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讓模型看完物件，再填資料卡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81328"/>
            <a:ext cx="11091672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5916168"/>
            <a:ext cx="11064240" cy="384048"/>
          </a:xfrm>
          <a:prstGeom prst="rect">
            <a:avLst/>
          </a:prstGeom>
          <a:solidFill>
            <a:srgbClr val="E6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78992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11 張圖片分別輸入同一個對話回合，最後產生一份 JSON。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014984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來源：目前標註程式、實際資料與論文 Figure 2｜完整依據見備忘稿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1632" y="6446520"/>
            <a:ext cx="850392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02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28216"/>
            <a:ext cx="2578608" cy="1444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865376"/>
            <a:ext cx="41148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267712"/>
            <a:ext cx="2267712" cy="39319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11 個角度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2752344"/>
            <a:ext cx="2267712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同一物件，從不同方向觀看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2286000"/>
            <a:ext cx="219456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8708" y="1728216"/>
            <a:ext cx="2578608" cy="1444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4156" y="1865376"/>
            <a:ext cx="41148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4156" y="2267712"/>
            <a:ext cx="2267712" cy="39319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同一回合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4156" y="2752344"/>
            <a:ext cx="2267712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圖片分別放入同一回合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4748" y="2286000"/>
            <a:ext cx="219456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1728216"/>
            <a:ext cx="2578608" cy="1444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865376"/>
            <a:ext cx="41148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2267712"/>
            <a:ext cx="2267712" cy="39319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Gemma 判讀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2752344"/>
            <a:ext cx="2267712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一起理解外觀與物件屬性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14816" y="2286000"/>
            <a:ext cx="219456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38844" y="1728216"/>
            <a:ext cx="2578608" cy="1444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94292" y="1865376"/>
            <a:ext cx="411480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4292" y="2267712"/>
            <a:ext cx="2267712" cy="39319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JSON 資料卡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4292" y="2752344"/>
            <a:ext cx="2267712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輸出欄位，交給程式檢查</a:t>
            </a:r>
          </a:p>
        </p:txBody>
      </p:sp>
      <p:pic>
        <p:nvPicPr>
          <p:cNvPr id="29" name="Picture 28" descr="annotation_view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47288"/>
            <a:ext cx="2039112" cy="2039112"/>
          </a:xfrm>
          <a:prstGeom prst="rect">
            <a:avLst/>
          </a:prstGeom>
        </p:spPr>
      </p:pic>
      <p:pic>
        <p:nvPicPr>
          <p:cNvPr id="30" name="Picture 29" descr="annotation_view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208" y="3447288"/>
            <a:ext cx="2039112" cy="2039112"/>
          </a:xfrm>
          <a:prstGeom prst="rect">
            <a:avLst/>
          </a:prstGeom>
        </p:spPr>
      </p:pic>
      <p:pic>
        <p:nvPicPr>
          <p:cNvPr id="31" name="Picture 30" descr="annotation_view_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5776" y="3447288"/>
            <a:ext cx="2039112" cy="203911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644383" y="3749039"/>
            <a:ext cx="3566160" cy="10241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同一張椅子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從不同角度看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44383" y="5029200"/>
            <a:ext cx="3611880" cy="3566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示意選 3 張；實際輸入 11 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37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1207" y="219456"/>
            <a:ext cx="10424160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標註更新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30936"/>
            <a:ext cx="11119104" cy="9235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資料卡記錄什麼？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81328"/>
            <a:ext cx="11091672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5916168"/>
            <a:ext cx="11064240" cy="384048"/>
          </a:xfrm>
          <a:prstGeom prst="rect">
            <a:avLst/>
          </a:prstGeom>
          <a:solidFill>
            <a:srgbClr val="E6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78992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13 個主要欄位，整理成四類；尺寸與重量是模型估計。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014984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來源：目前標註程式、實際資料與論文 Figure 2｜完整依據見備忘稿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1632" y="6446520"/>
            <a:ext cx="850392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03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764792"/>
            <a:ext cx="2323490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19656"/>
            <a:ext cx="2140610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資料類別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72130" y="1764792"/>
            <a:ext cx="3540556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3570" y="1819656"/>
            <a:ext cx="3357676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主要欄位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12687" y="1764792"/>
            <a:ext cx="5200192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4127" y="1819656"/>
            <a:ext cx="5017312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真實椅子範例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258568"/>
            <a:ext cx="232349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313432"/>
            <a:ext cx="2140610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是什麼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72130" y="2258568"/>
            <a:ext cx="3540556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63570" y="2313432"/>
            <a:ext cx="3357676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類別、語義類別、描述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12687" y="2258568"/>
            <a:ext cx="5200192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04127" y="2313432"/>
            <a:ext cx="5017312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chair；木製餐椅、粉紅座墊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953511"/>
            <a:ext cx="2323490" cy="694944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08375"/>
            <a:ext cx="2140610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什麼材質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72130" y="2953511"/>
            <a:ext cx="3540556" cy="694944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63570" y="3008375"/>
            <a:ext cx="3357676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materials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12687" y="2953511"/>
            <a:ext cx="5200192" cy="694944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4127" y="3008375"/>
            <a:ext cx="5017312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wood、fabric（木、布）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648455"/>
            <a:ext cx="232349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703319"/>
            <a:ext cx="2140610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多大、多重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72130" y="3648455"/>
            <a:ext cx="3540556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63570" y="3703319"/>
            <a:ext cx="3357676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寬／深／高、體積、重量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12687" y="3648455"/>
            <a:ext cx="5200192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04127" y="3703319"/>
            <a:ext cx="5017312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45 × 45 × 90 cm；8 kg（估計）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343399"/>
            <a:ext cx="2323490" cy="694944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398263"/>
            <a:ext cx="2140610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通常放哪裡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72130" y="4343399"/>
            <a:ext cx="3540556" cy="694944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63570" y="4398263"/>
            <a:ext cx="3357676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天花板／牆／地板／物件上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12687" y="4343399"/>
            <a:ext cx="5200192" cy="694944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04127" y="4398263"/>
            <a:ext cx="5017312" cy="603504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onFloor = true（放在地板）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" y="5394960"/>
            <a:ext cx="10652760" cy="32918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CE663F"/>
                </a:solidFill>
                <a:latin typeface="Noto Sans CJK TC"/>
                <a:ea typeface="Noto Sans CJK TC"/>
                <a:cs typeface="Noto Sans CJK TC"/>
              </a:rPr>
              <a:t>完整資料卡共 13 欄；尺寸、重量是模型估計，並非量測真值。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37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1207" y="219456"/>
            <a:ext cx="10424160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標註更新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30936"/>
            <a:ext cx="11119104" cy="9235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有回答，還要檢查才能收錄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81328"/>
            <a:ext cx="11091672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5916168"/>
            <a:ext cx="11064240" cy="384048"/>
          </a:xfrm>
          <a:prstGeom prst="rect">
            <a:avLst/>
          </a:prstGeom>
          <a:solidFill>
            <a:srgbClr val="E6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78992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先檢查，再收錄；最多三次作答，資源錯誤直接記為失敗。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014984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來源：目前標註程式、實際資料與論文 Figure 2｜完整依據見備忘稿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1632" y="6446520"/>
            <a:ext cx="850392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04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83080"/>
            <a:ext cx="3529584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911095"/>
            <a:ext cx="6400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40864"/>
            <a:ext cx="3163824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檢查資料卡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27248"/>
            <a:ext cx="3163824" cy="7040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缺欄、格式、尺寸與重量範圍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783080"/>
            <a:ext cx="3529584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8848" y="1911095"/>
            <a:ext cx="6400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340864"/>
            <a:ext cx="3163824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帶著錯誤重答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3127248"/>
            <a:ext cx="3163824" cy="7040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初次＋最多兩次修正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3296" y="1783080"/>
            <a:ext cx="3529584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66175" y="1911095"/>
            <a:ext cx="6400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6175" y="2340864"/>
            <a:ext cx="3163824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收錄或隔離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5" y="3127248"/>
            <a:ext cx="3163824" cy="7040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合格收錄；失敗保留原因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224528"/>
            <a:ext cx="2535555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279392"/>
            <a:ext cx="2352675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項目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84195" y="4224528"/>
            <a:ext cx="2766060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75635" y="4279392"/>
            <a:ext cx="2583179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論文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50255" y="4224528"/>
            <a:ext cx="5762625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1695" y="4279392"/>
            <a:ext cx="5579745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目前做法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718304"/>
            <a:ext cx="2535555" cy="4526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773168"/>
            <a:ext cx="2352675" cy="36118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標註模型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84195" y="4718304"/>
            <a:ext cx="2766060" cy="4526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75635" y="4773168"/>
            <a:ext cx="2583179" cy="36118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GPT-4o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50255" y="4718304"/>
            <a:ext cx="5762625" cy="4526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1695" y="4773168"/>
            <a:ext cx="5579745" cy="36118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Gemma 4 12B・BF16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170932"/>
            <a:ext cx="2535555" cy="452628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225796"/>
            <a:ext cx="2352675" cy="36118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多視角輸入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84195" y="5170932"/>
            <a:ext cx="2766060" cy="452628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175635" y="5225796"/>
            <a:ext cx="2583179" cy="36118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11 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50255" y="5170932"/>
            <a:ext cx="5762625" cy="452628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1695" y="5225796"/>
            <a:ext cx="5579745" cy="361188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11 張；提示與重試為本地選擇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37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1207" y="219456"/>
            <a:ext cx="10424160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標註更新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30936"/>
            <a:ext cx="11119104" cy="9235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標註進度與預估完成時間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81328"/>
            <a:ext cx="11091672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5916168"/>
            <a:ext cx="11064240" cy="384048"/>
          </a:xfrm>
          <a:prstGeom prst="rect">
            <a:avLst/>
          </a:prstGeom>
          <a:solidFill>
            <a:srgbClr val="E6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78992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本輪已處理 54.54%；規劃於 9/9 上午完成標註佇列。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014984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進度快照：2026-09-08 04:12:30（台北）；ETA 為推估｜完整依據見備忘稿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1632" y="6446520"/>
            <a:ext cx="850392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05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764792"/>
            <a:ext cx="4983480" cy="85953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53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54.54%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779776"/>
            <a:ext cx="6400800" cy="43891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本輪已處理 25,089 / 46,004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493008"/>
            <a:ext cx="6583680" cy="237744"/>
          </a:xfrm>
          <a:prstGeom prst="rect">
            <a:avLst/>
          </a:prstGeom>
          <a:solidFill>
            <a:srgbClr val="D9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3493008"/>
            <a:ext cx="3590512" cy="237744"/>
          </a:xfrm>
          <a:prstGeom prst="rect">
            <a:avLst/>
          </a:prstGeom>
          <a:solidFill>
            <a:srgbClr val="137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050791"/>
            <a:ext cx="20116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成功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572000"/>
            <a:ext cx="2011680" cy="5852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25,063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62656" y="4050791"/>
            <a:ext cx="20116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失敗隔離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62656" y="4572000"/>
            <a:ext cx="2011680" cy="5852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6944" y="4050791"/>
            <a:ext cx="20116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待處理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66944" y="4572000"/>
            <a:ext cx="2011680" cy="58521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20,915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1792224"/>
            <a:ext cx="3785615" cy="3749039"/>
          </a:xfrm>
          <a:prstGeom prst="roundRect">
            <a:avLst>
              <a:gd name="adj" fmla="val 8000"/>
            </a:avLst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075688"/>
            <a:ext cx="3264408" cy="37490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8ED3CF"/>
                </a:solidFill>
                <a:latin typeface="Noto Sans CJK TC"/>
                <a:ea typeface="Noto Sans CJK TC"/>
                <a:cs typeface="Noto Sans CJK TC"/>
              </a:rPr>
              <a:t>預計完成本輪標註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5008" y="2834640"/>
            <a:ext cx="3328416" cy="7772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9/9 上午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83296" y="3785615"/>
            <a:ext cx="3300984" cy="39319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0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規劃 09:00–12:00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83296" y="4572000"/>
            <a:ext cx="3246120" cy="72237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C6D8E1"/>
                </a:solidFill>
                <a:latin typeface="Noto Sans CJK TC"/>
                <a:ea typeface="Noto Sans CJK TC"/>
                <a:cs typeface="Noto Sans CJK TC"/>
              </a:rPr>
              <a:t>近期約 11.7–11.9 件／分鐘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C6D8E1"/>
                </a:solidFill>
                <a:latin typeface="Noto Sans CJK TC"/>
                <a:ea typeface="Noto Sans CJK TC"/>
                <a:cs typeface="Noto Sans CJK TC"/>
              </a:rPr>
              <a:t>需持續運作且速度相近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" y="5596128"/>
            <a:ext cx="10652760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只估標註處理；不含後續編碼、訓練與評估。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37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1207" y="219456"/>
            <a:ext cx="10424160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評估計畫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30936"/>
            <a:ext cx="11119104" cy="9235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用真實需求，比較三種找家具的方法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81328"/>
            <a:ext cx="11091672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5916168"/>
            <a:ext cx="11064240" cy="384048"/>
          </a:xfrm>
          <a:prstGeom prst="rect">
            <a:avLst/>
          </a:prstGeom>
          <a:solidFill>
            <a:srgbClr val="E6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78992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主評估問「是否符合需求」；三種方法使用同一題目、候選與正解。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014984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來源：論文 Table 1 與本地需求檢索規格；正式評估尚待執行｜完整依據見備忘稿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1632" y="6446520"/>
            <a:ext cx="850392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06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64792"/>
            <a:ext cx="3529584" cy="2542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892807"/>
            <a:ext cx="6400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22576"/>
            <a:ext cx="3163824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預訓練基準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08960"/>
            <a:ext cx="3163824" cy="1097279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ULIP2 特徵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本地平均融合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764792"/>
            <a:ext cx="3529584" cy="2542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8848" y="1892807"/>
            <a:ext cx="6400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322576"/>
            <a:ext cx="3163824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Stage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3108960"/>
            <a:ext cx="3163824" cy="1097279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學習物件表徵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與多模態融合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3296" y="1764792"/>
            <a:ext cx="3529584" cy="2542032"/>
          </a:xfrm>
          <a:prstGeom prst="roundRect">
            <a:avLst>
              <a:gd name="adj" fmla="val 8000"/>
            </a:avLst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66175" y="1892807"/>
            <a:ext cx="6400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8ED3CF"/>
                </a:solidFill>
                <a:latin typeface="Noto Sans CJK TC"/>
                <a:ea typeface="Noto Sans CJK TC"/>
                <a:cs typeface="Noto Sans CJK T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6175" y="2322576"/>
            <a:ext cx="3163824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Stage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5" y="3108960"/>
            <a:ext cx="3163824" cy="1097279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C6D8E1"/>
                </a:solidFill>
                <a:latin typeface="Noto Sans CJK TC"/>
                <a:ea typeface="Noto Sans CJK TC"/>
                <a:cs typeface="Noto Sans CJK TC"/>
              </a:rPr>
              <a:t>場景訓練後的融合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C6D8E1"/>
                </a:solidFill>
                <a:latin typeface="Noto Sans CJK TC"/>
                <a:ea typeface="Noto Sans CJK TC"/>
                <a:cs typeface="Noto Sans CJK TC"/>
              </a:rPr>
              <a:t>本評估不輸入場景資訊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617720"/>
            <a:ext cx="214884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依輸入安排條件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4590288"/>
            <a:ext cx="8650224" cy="45720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T  /  I  /  PC  /  T＋I  /  T＋PC  /  I＋PC  /  全部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5303520"/>
            <a:ext cx="5029200" cy="3840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T＝文字　I＝圖片　PC＝點雲；逐條件記錄題數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5303520"/>
            <a:ext cx="6044184" cy="3383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候選皆有 T＋I＋PC；三方法使用同一批資產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37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1207" y="219456"/>
            <a:ext cx="10424160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評估計畫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30936"/>
            <a:ext cx="11119104" cy="9235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一道需求，可以有好幾個合適答案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81328"/>
            <a:ext cx="11091672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5916168"/>
            <a:ext cx="11064240" cy="384048"/>
          </a:xfrm>
          <a:prstGeom prst="rect">
            <a:avLst/>
          </a:prstGeom>
          <a:solidFill>
            <a:srgbClr val="E6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78992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主要看 Hit@1／Hit@5：前 1／5 名是否至少有一個可接受選項。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014984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來源：論文 Table 1 與本地需求檢索規格；正式評估尚待執行｜完整依據見備忘稿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1632" y="6446520"/>
            <a:ext cx="850392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07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728216"/>
            <a:ext cx="10908792" cy="438912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需求：找一張適合小餐桌、木質外觀的餐椅。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77440"/>
            <a:ext cx="5089550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432304"/>
            <a:ext cx="4906670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示意結果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38190" y="2377440"/>
            <a:ext cx="5974689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29630" y="2432304"/>
            <a:ext cx="5791809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怎麼解讀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871216"/>
            <a:ext cx="5089550" cy="4251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926080"/>
            <a:ext cx="4906670" cy="33375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8 個候選，其中 3 個可接受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38190" y="2871216"/>
            <a:ext cx="5974689" cy="4251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29630" y="2926080"/>
            <a:ext cx="5791809" cy="33375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正解依需求審核；不靠同一個 UID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296412"/>
            <a:ext cx="5089550" cy="425196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51276"/>
            <a:ext cx="4906670" cy="33375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可接受候選排在第 2、6、8 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38190" y="3296412"/>
            <a:ext cx="5974689" cy="425196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9630" y="3351276"/>
            <a:ext cx="5791809" cy="33375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第一名不合適；前五名找到其中一個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721608"/>
            <a:ext cx="5089550" cy="4251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776472"/>
            <a:ext cx="4906670" cy="33375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Hit@1＝0%；Hit@5＝100%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38190" y="3721608"/>
            <a:ext cx="5974689" cy="4251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9630" y="3776472"/>
            <a:ext cx="5791809" cy="33375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這一題前五名至少有一個合適選項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146804"/>
            <a:ext cx="5089550" cy="425196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201668"/>
            <a:ext cx="4906670" cy="33375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真正 Recall@5＝1/3＝33.3%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38190" y="4146804"/>
            <a:ext cx="5974689" cy="425196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29630" y="4201668"/>
            <a:ext cx="5791809" cy="33375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前五名找回全部可接受答案的三分之一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809744"/>
            <a:ext cx="5404104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4901184"/>
            <a:ext cx="5056632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Hit：有沒有找到合適的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5385816"/>
            <a:ext cx="505663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前五名只要有一個合適選項，就算命中。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08776" y="4809744"/>
            <a:ext cx="5404104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3368" y="4901184"/>
            <a:ext cx="5056632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Recall：合適的找回多少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5385816"/>
            <a:ext cx="5056632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有三個合適選項，找到一個＝找回三分之一。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37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1207" y="219456"/>
            <a:ext cx="10424160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評估計畫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30936"/>
            <a:ext cx="11119104" cy="9235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新主評估與論文、舊診斷分開看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81328"/>
            <a:ext cx="11091672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5916168"/>
            <a:ext cx="11064240" cy="384048"/>
          </a:xfrm>
          <a:prstGeom prst="rect">
            <a:avLst/>
          </a:prstGeom>
          <a:solidFill>
            <a:srgbClr val="E6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78992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這是已批准的本地需求檢索評估；不冒充作者 Table 1 原始協定。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014984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來源：論文 Table 1 與本地需求檢索規格；正式評估尚待執行｜完整依據見備忘稿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1632" y="6446520"/>
            <a:ext cx="850392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08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737360"/>
            <a:ext cx="2121339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92224"/>
            <a:ext cx="1938459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項目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69979" y="1737360"/>
            <a:ext cx="3369185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61419" y="1792224"/>
            <a:ext cx="3186305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論文或舊診斷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9165" y="1737360"/>
            <a:ext cx="5573714" cy="493776"/>
          </a:xfrm>
          <a:prstGeom prst="rect">
            <a:avLst/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30605" y="1792224"/>
            <a:ext cx="5390834" cy="40233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新主評估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231136"/>
            <a:ext cx="2121339" cy="69128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286000"/>
            <a:ext cx="1938459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問題與正解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69979" y="2231136"/>
            <a:ext cx="3369185" cy="69128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1419" y="2286000"/>
            <a:ext cx="3186305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論文完整 query／正解配對未公開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9165" y="2231136"/>
            <a:ext cx="5573714" cy="69128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0605" y="2286000"/>
            <a:ext cx="5390834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使用者需求；每條件多個可接受候選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922422"/>
            <a:ext cx="2121339" cy="691286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2977286"/>
            <a:ext cx="1938459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主要指標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69979" y="2922422"/>
            <a:ext cx="3369185" cy="691286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61419" y="2977286"/>
            <a:ext cx="3186305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論文稱 R@1／R@5；完整標註規則未知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9165" y="2922422"/>
            <a:ext cx="5573714" cy="691286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30605" y="2977286"/>
            <a:ext cx="5390834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Hit@1／Hit@5；輔助真正 Recall@k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613708"/>
            <a:ext cx="2121339" cy="69128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68572"/>
            <a:ext cx="1938459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P-only baseline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69979" y="3613708"/>
            <a:ext cx="3369185" cy="69128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61419" y="3668572"/>
            <a:ext cx="3186305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論文說 query／gallery 使用相同 PC embedding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9165" y="3613708"/>
            <a:ext cx="5573714" cy="69128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30605" y="3668572"/>
            <a:ext cx="5390834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本地 query=P；gallery 固定融合 T+I+P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304995"/>
            <a:ext cx="2121339" cy="691286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359859"/>
            <a:ext cx="1938459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候選與資料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69979" y="4304995"/>
            <a:ext cx="3369185" cy="691286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61419" y="4359859"/>
            <a:ext cx="3186305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論文約 48K；確切候選清單未公開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39165" y="4304995"/>
            <a:ext cx="5573714" cy="691286"/>
          </a:xfrm>
          <a:prstGeom prst="rect">
            <a:avLst/>
          </a:prstGeom>
          <a:solidFill>
            <a:srgbClr val="EB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30605" y="4359859"/>
            <a:ext cx="5390834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先固定審核完整的候選池與題目分母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996281"/>
            <a:ext cx="2121339" cy="69128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051145"/>
            <a:ext cx="1938459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既有四十二組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69979" y="4996281"/>
            <a:ext cx="3369185" cy="69128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61419" y="5051145"/>
            <a:ext cx="3186305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同一資產 UID 的兩觀測辨識診斷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9165" y="4996281"/>
            <a:ext cx="5573714" cy="69128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30605" y="5051145"/>
            <a:ext cx="5390834" cy="599846"/>
          </a:xfrm>
          <a:prstGeom prst="rect">
            <a:avLst/>
          </a:prstGeom>
          <a:noFill/>
        </p:spPr>
        <p:txBody>
          <a:bodyPr wrap="square" lIns="13716" rIns="13716" tIns="9144" bIns="9144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另列診斷；不是新主評估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37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1207" y="219456"/>
            <a:ext cx="10424160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評估計畫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30936"/>
            <a:ext cx="11119104" cy="9235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先寫題、審答案、封存，最後才跑模型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81328"/>
            <a:ext cx="11091672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5916168"/>
            <a:ext cx="11064240" cy="384048"/>
          </a:xfrm>
          <a:prstGeom prst="rect">
            <a:avLst/>
          </a:prstGeom>
          <a:solidFill>
            <a:srgbClr val="E6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78992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每題、每個模態條件，都先審完固定候選池；未審完就是待完成。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014984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來源：論文 Table 1 與本地需求檢索規格；正式評估尚待執行｜完整依據見備忘稿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1632" y="6446520"/>
            <a:ext cx="850392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09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10512"/>
            <a:ext cx="2578608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938528"/>
            <a:ext cx="6400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68296"/>
            <a:ext cx="2212848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準備需求與參考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54680"/>
            <a:ext cx="2212848" cy="17556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ULIP-2 描述可作草稿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記錄原始文字、照片與點雲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8708" y="1810512"/>
            <a:ext cx="2578608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1588" y="1938528"/>
            <a:ext cx="6400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1588" y="2368296"/>
            <a:ext cx="2212848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先審核合適答案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1588" y="3154680"/>
            <a:ext cx="2212848" cy="17556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逐條件審完全部候選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來源 UID 不自動當正解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1810512"/>
            <a:ext cx="2578608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1656" y="1938528"/>
            <a:ext cx="6400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2368296"/>
            <a:ext cx="2212848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凍結資料與模型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154680"/>
            <a:ext cx="2212848" cy="17556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固定題目、答案與候選池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核對 Stage 1／2 版本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38844" y="1810512"/>
            <a:ext cx="2578608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21724" y="1938528"/>
            <a:ext cx="640080" cy="32004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21724" y="2368296"/>
            <a:ext cx="2212848" cy="6949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記錄逐題結果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1724" y="3154680"/>
            <a:ext cx="2212848" cy="17556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主報 Hit，另報 Recall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未審完的資料不跑正式分數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367528"/>
            <a:ext cx="10890504" cy="33832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CE663F"/>
                </a:solidFill>
                <a:latin typeface="Noto Sans CJK TC"/>
                <a:ea typeface="Noto Sans CJK TC"/>
                <a:cs typeface="Noto Sans CJK TC"/>
              </a:rPr>
              <a:t>先完成並封存審核，再看模型排名；缺少標籤不能直接算不相關。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37D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21207" y="219456"/>
            <a:ext cx="10424160" cy="24688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接下來怎麼做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30936"/>
            <a:ext cx="11119104" cy="9235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標註後，補齊資料、模型與需求考卷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81328"/>
            <a:ext cx="11091672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48640" y="5916168"/>
            <a:ext cx="11064240" cy="384048"/>
          </a:xfrm>
          <a:prstGeom prst="rect">
            <a:avLst/>
          </a:prstGeom>
          <a:solidFill>
            <a:srgbClr val="E6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789920" cy="31089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完整題目與正解先封存，模型準備好後再另行執行主評估。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10149840" cy="18288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19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來源：論文 Table 1 與本地需求檢索規格；正式評估尚待執行｜完整依據見備忘稿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71632" y="6446520"/>
            <a:ext cx="850392" cy="237744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10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46504"/>
            <a:ext cx="3529584" cy="1810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1856231"/>
            <a:ext cx="438912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2267712"/>
            <a:ext cx="3236976" cy="40233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整理標註與排除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788920"/>
            <a:ext cx="3236976" cy="6126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對清有效資產、真正失敗與人工排除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1" y="2496312"/>
            <a:ext cx="210312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1746504"/>
            <a:ext cx="3529584" cy="1810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856231"/>
            <a:ext cx="438912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67712"/>
            <a:ext cx="3236976" cy="40233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編碼與固定切分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788920"/>
            <a:ext cx="3236976" cy="6126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建立特徵、固定分組，另做資料預檢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2496312"/>
            <a:ext cx="210312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46504"/>
            <a:ext cx="3529584" cy="1810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1856231"/>
            <a:ext cx="438912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267712"/>
            <a:ext cx="3236976" cy="40233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訓練兩階段模型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788920"/>
            <a:ext cx="3236976" cy="6126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Stage 1／候選庫核驗，再備妥 Stage 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767328"/>
            <a:ext cx="3529584" cy="1810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3877056"/>
            <a:ext cx="438912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" y="4288536"/>
            <a:ext cx="3236976" cy="40233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撰寫真實需求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" y="4809744"/>
            <a:ext cx="3236976" cy="6126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獨立 query ID；選定可用參考線索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96511" y="4517136"/>
            <a:ext cx="210312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5968" y="3767328"/>
            <a:ext cx="3529584" cy="1810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62272" y="3877056"/>
            <a:ext cx="438912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62272" y="4288536"/>
            <a:ext cx="3236976" cy="40233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83247"/>
                </a:solidFill>
                <a:latin typeface="Noto Sans CJK TC"/>
                <a:ea typeface="Noto Sans CJK TC"/>
                <a:cs typeface="Noto Sans CJK TC"/>
              </a:rPr>
              <a:t>審核與封存答案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2272" y="4809744"/>
            <a:ext cx="3236976" cy="6126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657A88"/>
                </a:solidFill>
                <a:latin typeface="Noto Sans CJK TC"/>
                <a:ea typeface="Noto Sans CJK TC"/>
                <a:cs typeface="Noto Sans CJK TC"/>
              </a:rPr>
              <a:t>每條件完整 0／1 正解；先於模型排名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4517136"/>
            <a:ext cx="210312" cy="29260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137D88"/>
                </a:solidFill>
                <a:latin typeface="Noto Sans CJK TC"/>
                <a:ea typeface="Noto Sans CJK TC"/>
                <a:cs typeface="Noto Sans CJK TC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83296" y="3767328"/>
            <a:ext cx="3529584" cy="1810512"/>
          </a:xfrm>
          <a:prstGeom prst="roundRect">
            <a:avLst>
              <a:gd name="adj" fmla="val 8000"/>
            </a:avLst>
          </a:prstGeom>
          <a:solidFill>
            <a:srgbClr val="18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3877056"/>
            <a:ext cx="438912" cy="274320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8ED3CF"/>
                </a:solidFill>
                <a:latin typeface="Noto Sans CJK TC"/>
                <a:ea typeface="Noto Sans CJK TC"/>
                <a:cs typeface="Noto Sans CJK TC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4288536"/>
            <a:ext cx="3236976" cy="402336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Noto Sans CJK TC"/>
                <a:ea typeface="Noto Sans CJK TC"/>
                <a:cs typeface="Noto Sans CJK TC"/>
              </a:rPr>
              <a:t>執行並報告結果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4809744"/>
            <a:ext cx="3236976" cy="612648"/>
          </a:xfrm>
          <a:prstGeom prst="rect">
            <a:avLst/>
          </a:prstGeom>
          <a:noFill/>
        </p:spPr>
        <p:txBody>
          <a:bodyPr wrap="square" lIns="13716" rIns="13716" tIns="9144" bIns="9144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C6D8E1"/>
                </a:solidFill>
                <a:latin typeface="Noto Sans CJK TC"/>
                <a:ea typeface="Noto Sans CJK TC"/>
                <a:cs typeface="Noto Sans CJK TC"/>
              </a:rPr>
              <a:t>Hit@1／Hit@5；另列 Recall 與舊診斷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MetaFind｜標註更新與評估計畫</dc:title>
  <dc:subject>最新標註方法、完成時間與後續評估計畫；含逐頁講稿</dc:subject>
  <dc:creator>MetaFindV1</dc:creator>
  <cp:keywords>MetaFind, Table 1, Stage 2, reproduction, 自訂評估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