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183247"/>
                </a:solidFill>
                <a:latin typeface="Noto Sans CJK TC"/>
                <a:ea typeface="Noto Sans CJK TC"/>
                <a:cs typeface="Noto Sans CJK TC"/>
              </a:rPr>
              <a:t>第 01 頁｜MetaFind：讓高分可解釋，讓評估可重播</a:t>
            </a:r>
          </a:p>
          <a:p>
            <a:r>
              <a:rPr sz="1200" b="0">
                <a:solidFill>
                  <a:srgbClr val="183247"/>
                </a:solidFill>
                <a:latin typeface="Noto Sans CJK TC"/>
                <a:ea typeface="Noto Sans CJK TC"/>
                <a:cs typeface="Noto Sans CJK TC"/>
              </a:rPr>
              <a:t>建議時間：105 秒</a:t>
            </a:r>
          </a:p>
          <a:p/>
          <a:p>
            <a:r>
              <a:rPr sz="1200" b="0">
                <a:solidFill>
                  <a:srgbClr val="183247"/>
                </a:solidFill>
                <a:latin typeface="Noto Sans CJK TC"/>
                <a:ea typeface="Noto Sans CJK TC"/>
                <a:cs typeface="Noto Sans CJK TC"/>
              </a:rPr>
              <a:t>今天這份報告要回答兩個連在一起的問題：為什麼我們過去的融合分數比論文高，以及接下來要怎麼做，才能得到可重播、可比較的答案。現在已經有真實模型的小型執行證據，也修過確定的資料與權重交接問題，但這些進展不能直接換成正式論文結果已完成。我會先把評估到底量什麼講清楚，再看文字加圖片、文字加點雲的歷史證據，最後走過兩階段訓練與評估的交接。請特別留意每個數字的資料池、觀測和模型版本；只要其中一項不同，就不能當成相同條件。報告最後會把已驗證的功能與仍需執行的正式工作分開，讓下一步有具體驗收依據。</a:t>
            </a:r>
          </a:p>
          <a:p/>
          <a:p>
            <a:r>
              <a:rPr sz="1200" b="0">
                <a:solidFill>
                  <a:srgbClr val="183247"/>
                </a:solidFill>
                <a:latin typeface="Noto Sans CJK TC"/>
                <a:ea typeface="Noto Sans CJK TC"/>
                <a:cs typeface="Noto Sans CJK TC"/>
              </a:rPr>
              <a:t>這裡先說明後面所有結論的閱讀規則。論文明確指定七種查詢模態，也報告前一名和前五名的命中率，並說基準模型額外加上平均融合。但是作者沒有完整公開每個查詢使用哪份觀測、候選資產清單，以及全部融合正規化細節。因此我們把本地採用的規則明寫成實作選擇，而不是補寫成作者做法。這樣做不是降低復現標準，而是讓已知與未知都能追溯。即使程式測試全部通過，也只能說它符合測試涵蓋的條件，不能因此改寫論文。稍後看到分數接近或遠離論文，都先回頭看這三層證據，避免用結果倒推一個沒有來源的研究設定。</a:t>
            </a:r>
          </a:p>
          <a:p/>
          <a:p>
            <a:r>
              <a:rPr sz="1200" b="0">
                <a:solidFill>
                  <a:srgbClr val="183247"/>
                </a:solidFill>
                <a:latin typeface="Noto Sans CJK TC"/>
                <a:ea typeface="Noto Sans CJK TC"/>
                <a:cs typeface="Noto Sans CJK TC"/>
              </a:rPr>
              <a:t>本頁重點：真模型小型路徑已跑通；正式結果與歷史高分根因仍未完整確定。</a:t>
            </a:r>
          </a:p>
          <a:p/>
          <a:p>
            <a:r>
              <a:rPr sz="1200" b="0">
                <a:solidFill>
                  <a:srgbClr val="183247"/>
                </a:solidFill>
                <a:latin typeface="Noto Sans CJK TC"/>
                <a:ea typeface="Noto Sans CJK TC"/>
                <a:cs typeface="Noto Sans CJK TC"/>
              </a:rPr>
              <a:t>來源與界線</a:t>
            </a:r>
          </a:p>
          <a:p>
            <a:r>
              <a:rPr sz="1200" b="0">
                <a:solidFill>
                  <a:srgbClr val="183247"/>
                </a:solidFill>
                <a:latin typeface="Noto Sans CJK TC"/>
                <a:ea typeface="Noto Sans CJK TC"/>
                <a:cs typeface="Noto Sans CJK TC"/>
              </a:rPr>
              <a:t>Notion 導言、§1、§4.4；[最終發布版](/home/kyzen/MetaFindV1/output/validation/corpus_guard_20260908/notion_table1_stage2_published.md:1)</a:t>
            </a:r>
          </a:p>
          <a:p>
            <a:r>
              <a:rPr sz="1200" b="0">
                <a:solidFill>
                  <a:srgbClr val="183247"/>
                </a:solidFill>
                <a:latin typeface="Noto Sans CJK TC"/>
                <a:ea typeface="Noto Sans CJK TC"/>
                <a:cs typeface="Noto Sans CJK TC"/>
              </a:rPr>
              <a:t>[3experiments.tex](/home/kyzen/MetaFindV1/docs/paper/metafind_source/3experiments.tex)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183247"/>
                </a:solidFill>
                <a:latin typeface="Noto Sans CJK TC"/>
                <a:ea typeface="Noto Sans CJK TC"/>
                <a:cs typeface="Noto Sans CJK TC"/>
              </a:rPr>
              <a:t>第 02 頁｜三種評估，回答三個不同問題</a:t>
            </a:r>
          </a:p>
          <a:p>
            <a:r>
              <a:rPr sz="1200" b="0">
                <a:solidFill>
                  <a:srgbClr val="183247"/>
                </a:solidFill>
                <a:latin typeface="Noto Sans CJK TC"/>
                <a:ea typeface="Noto Sans CJK TC"/>
                <a:cs typeface="Noto Sans CJK TC"/>
              </a:rPr>
              <a:t>建議時間：105 秒</a:t>
            </a:r>
          </a:p>
          <a:p/>
          <a:p>
            <a:r>
              <a:rPr sz="1200" b="0">
                <a:solidFill>
                  <a:srgbClr val="183247"/>
                </a:solidFill>
                <a:latin typeface="Noto Sans CJK TC"/>
                <a:ea typeface="Noto Sans CJK TC"/>
                <a:cs typeface="Noto Sans CJK TC"/>
              </a:rPr>
              <a:t>先把工作拆成三個明確的問題。第一個是物件檢索：給一段文字、一張圖片或點雲，在固定候選裡能不能找到原本那個資產。第二個是在房間裡，加入已放置物件的上下文後，檢索結果會怎麼改變。第三個才是整個場景完成以後，美感、風格和幾何是否更合理。這三者的正解定義和驗收產物不同。例如取回另一張很適合房間的椅子，可能在同資產檢索裡算錯，卻對場景品質有幫助。相反地，找回原資產也不保證放置合理。所以接下來提到的自訂表格，主要回答第一個問題；房間診斷和正式場景評分會保留獨立路徑，不把它們混成同一種成功。</a:t>
            </a:r>
          </a:p>
          <a:p/>
          <a:p>
            <a:r>
              <a:rPr sz="1200" b="0">
                <a:solidFill>
                  <a:srgbClr val="183247"/>
                </a:solidFill>
                <a:latin typeface="Noto Sans CJK TC"/>
                <a:ea typeface="Noto Sans CJK TC"/>
                <a:cs typeface="Noto Sans CJK TC"/>
              </a:rPr>
              <a:t>在這三條路徑裡，同一個模型名稱也不代表相同的輸入。第二階段權重在物件資料上使用時，場景分支是關閉的；到了房間診斷才有可用上下文。完整場景還需要明確的房間位置、資產放置和渲染設定，最後才送交評分。論文把這些問題分開報告，我們也維持同樣的區分。後面看到第二階段物件分數下降，不能直接推論房間品質下降；看到渲染成功，也不能宣稱裁判已評分。先把這個邊界建立好，再進入新的四十二組比較設計，才不會把不同目的的結果塞進同一張表。</a:t>
            </a:r>
          </a:p>
          <a:p/>
          <a:p>
            <a:r>
              <a:rPr sz="1200" b="0">
                <a:solidFill>
                  <a:srgbClr val="183247"/>
                </a:solidFill>
                <a:latin typeface="Noto Sans CJK TC"/>
                <a:ea typeface="Noto Sans CJK TC"/>
                <a:cs typeface="Noto Sans CJK TC"/>
              </a:rPr>
              <a:t>本頁重點：同UID命中率、room-context檢索、場景品質不能互相代替。</a:t>
            </a:r>
          </a:p>
          <a:p/>
          <a:p>
            <a:r>
              <a:rPr sz="1200" b="0">
                <a:solidFill>
                  <a:srgbClr val="183247"/>
                </a:solidFill>
                <a:latin typeface="Noto Sans CJK TC"/>
                <a:ea typeface="Noto Sans CJK TC"/>
                <a:cs typeface="Noto Sans CJK TC"/>
              </a:rPr>
              <a:t>來源與界線</a:t>
            </a:r>
          </a:p>
          <a:p>
            <a:r>
              <a:rPr sz="1200" b="0">
                <a:solidFill>
                  <a:srgbClr val="183247"/>
                </a:solidFill>
                <a:latin typeface="Noto Sans CJK TC"/>
                <a:ea typeface="Noto Sans CJK TC"/>
                <a:cs typeface="Noto Sans CJK TC"/>
              </a:rPr>
              <a:t>Notion §1、§9；[最終發布版](/home/kyzen/MetaFindV1/output/validation/corpus_guard_20260908/notion_table1_stage2_published.md:7)</a:t>
            </a:r>
          </a:p>
          <a:p>
            <a:r>
              <a:rPr sz="1200" b="0">
                <a:solidFill>
                  <a:srgbClr val="183247"/>
                </a:solidFill>
                <a:latin typeface="Noto Sans CJK TC"/>
                <a:ea typeface="Noto Sans CJK TC"/>
                <a:cs typeface="Noto Sans CJK TC"/>
              </a:rPr>
              <a:t>[3experiments.tex](/home/kyzen/MetaFindV1/docs/paper/metafind_source/3experiments.tex)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183247"/>
                </a:solidFill>
                <a:latin typeface="Noto Sans CJK TC"/>
                <a:ea typeface="Noto Sans CJK TC"/>
                <a:cs typeface="Noto Sans CJK TC"/>
              </a:rPr>
              <a:t>第 03 頁｜2觀測 × 3模型 × 7模態＝42組</a:t>
            </a:r>
          </a:p>
          <a:p>
            <a:r>
              <a:rPr sz="1200" b="0">
                <a:solidFill>
                  <a:srgbClr val="183247"/>
                </a:solidFill>
                <a:latin typeface="Noto Sans CJK TC"/>
                <a:ea typeface="Noto Sans CJK TC"/>
                <a:cs typeface="Noto Sans CJK TC"/>
              </a:rPr>
              <a:t>建議時間：105 秒</a:t>
            </a:r>
          </a:p>
          <a:p/>
          <a:p>
            <a:r>
              <a:rPr sz="1200" b="0">
                <a:solidFill>
                  <a:srgbClr val="183247"/>
                </a:solidFill>
                <a:latin typeface="Noto Sans CJK TC"/>
                <a:ea typeface="Noto Sans CJK TC"/>
                <a:cs typeface="Noto Sans CJK TC"/>
              </a:rPr>
              <a:t>第一列只使用官方預訓練模型，把可用模態分別正規化後平均，再正規化，不載入本地訓練過的點雲權重，也沒有學習式遮罩。第二列完整還原第一階段，因此相對基準的提升可能同時來自點雲編碼器和融合模組，不能全部歸給融合。第三列驗證第二階段確實來自同一個父模型，再只換掉查詢融合，關閉場景殘差，並要求候選向量逐位元不變。這個設計讓我們比較第二階段更新後的物件檢索變化，但它不測場景編碼器的品質效益。另外，影像沿用來源經核對的逐視角快取；歷史快取缺少權重身分時仍保留限制，不能因今天載對官方模型就回頭替舊快取背書。</a:t>
            </a:r>
          </a:p>
          <a:p/>
          <a:p>
            <a:r>
              <a:rPr sz="1200" b="0">
                <a:solidFill>
                  <a:srgbClr val="183247"/>
                </a:solidFill>
                <a:latin typeface="Noto Sans CJK TC"/>
                <a:ea typeface="Noto Sans CJK TC"/>
                <a:cs typeface="Noto Sans CJK TC"/>
              </a:rPr>
              <a:t>相同觀測版本讓查詢和候選使用相同的標準文字、全部視角平均和標準點雲，量的是這種條件下的資產識別能力。不同觀測版本仍然指向同一件資產，但文字換成另外提供的描述，圖片只取事先固定的一個視角，點雲從同一個網格重新採樣。候選端的圖片會排除自己的保留視角，文字與點雲維持標準來源。這裡不是針對每個查詢臨時重建候選庫；每個候選資產先依自己的識別碼決定規則，所以仍然可以預先編碼。這樣才能把觀測分離寫成可重播條件。要注意，另一段描述不保證是獨立標註，另一份點雲也不是獨立掃描，來源限制仍要寫進紀錄。</a:t>
            </a:r>
          </a:p>
          <a:p/>
          <a:p>
            <a:r>
              <a:rPr sz="1200" b="0">
                <a:solidFill>
                  <a:srgbClr val="183247"/>
                </a:solidFill>
                <a:latin typeface="Noto Sans CJK TC"/>
                <a:ea typeface="Noto Sans CJK TC"/>
                <a:cs typeface="Noto Sans CJK TC"/>
              </a:rPr>
              <a:t>完整三列是四十二組，只有平均基準與第一階段時是二十八組。不同文字必須經實際斷詞器確認有效輸入不同，十一個視角固定分成查詢一個、候選十個。</a:t>
            </a:r>
          </a:p>
          <a:p/>
          <a:p>
            <a:r>
              <a:rPr sz="1200" b="0">
                <a:solidFill>
                  <a:srgbClr val="183247"/>
                </a:solidFill>
                <a:latin typeface="Noto Sans CJK TC"/>
                <a:ea typeface="Noto Sans CJK TC"/>
                <a:cs typeface="Noto Sans CJK TC"/>
              </a:rPr>
              <a:t>本頁重點：同一UID清單與順序；每組N個query，共42×N筆紀錄。</a:t>
            </a:r>
          </a:p>
          <a:p/>
          <a:p>
            <a:r>
              <a:rPr sz="1200" b="0">
                <a:solidFill>
                  <a:srgbClr val="183247"/>
                </a:solidFill>
                <a:latin typeface="Noto Sans CJK TC"/>
                <a:ea typeface="Noto Sans CJK TC"/>
                <a:cs typeface="Noto Sans CJK TC"/>
              </a:rPr>
              <a:t>來源與界線</a:t>
            </a:r>
          </a:p>
          <a:p>
            <a:r>
              <a:rPr sz="1200" b="0">
                <a:solidFill>
                  <a:srgbClr val="183247"/>
                </a:solidFill>
                <a:latin typeface="Noto Sans CJK TC"/>
                <a:ea typeface="Noto Sans CJK TC"/>
                <a:cs typeface="Noto Sans CJK TC"/>
              </a:rPr>
              <a:t>Notion §2.1–2.3、§5.5；[最終發布版](/home/kyzen/MetaFindV1/output/validation/corpus_guard_20260908/notion_table1_stage2_published.md:36)</a:t>
            </a:r>
          </a:p>
          <a:p>
            <a:r>
              <a:rPr sz="1200" b="0">
                <a:solidFill>
                  <a:srgbClr val="183247"/>
                </a:solidFill>
                <a:latin typeface="Noto Sans CJK TC"/>
                <a:ea typeface="Noto Sans CJK TC"/>
                <a:cs typeface="Noto Sans CJK TC"/>
              </a:rPr>
              <a:t>[custom_models.py](/home/kyzen/MetaFindV1/metafind/eval/custom_models.py)</a:t>
            </a:r>
          </a:p>
          <a:p>
            <a:r>
              <a:rPr sz="1200" b="0">
                <a:solidFill>
                  <a:srgbClr val="183247"/>
                </a:solidFill>
                <a:latin typeface="Noto Sans CJK TC"/>
                <a:ea typeface="Noto Sans CJK TC"/>
                <a:cs typeface="Noto Sans CJK TC"/>
              </a:rPr>
              <a:t>[custom_protocol.py](/home/kyzen/MetaFindV1/metafind/eval/custom_protocol.py)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183247"/>
                </a:solidFill>
                <a:latin typeface="Noto Sans CJK TC"/>
                <a:ea typeface="Noto Sans CJK TC"/>
                <a:cs typeface="Noto Sans CJK TC"/>
              </a:rPr>
              <a:t>第 04 頁｜UID正解＋保守同分排名，保留完整分母</a:t>
            </a:r>
          </a:p>
          <a:p>
            <a:r>
              <a:rPr sz="1200" b="0">
                <a:solidFill>
                  <a:srgbClr val="183247"/>
                </a:solidFill>
                <a:latin typeface="Noto Sans CJK TC"/>
                <a:ea typeface="Noto Sans CJK TC"/>
                <a:cs typeface="Noto Sans CJK TC"/>
              </a:rPr>
              <a:t>建議時間：105 秒</a:t>
            </a:r>
          </a:p>
          <a:p/>
          <a:p>
            <a:r>
              <a:rPr sz="1200" b="0">
                <a:solidFill>
                  <a:srgbClr val="183247"/>
                </a:solidFill>
                <a:latin typeface="Noto Sans CJK TC"/>
                <a:ea typeface="Noto Sans CJK TC"/>
                <a:cs typeface="Noto Sans CJK TC"/>
              </a:rPr>
              <a:t>這裡用一個刻意打亂順序的例子，說明正解是怎麼找的。查詢清單先是甲再是乙，候選清單卻是乙、丙、甲，所以第一個查詢的正解在第三欄，第二個在第一欄。程式用識別碼建立欄位對應，不把相似度矩陣對角線當成答案。這件事在完整候選庫特別重要，因為查詢通常只是候選的一部分，兩邊排序不會自然一致。規則也要求清單非空、不重複，並且所有正解確實存在候選庫；少一筆就明確失敗，而不是自動縮小分母。這個例子只是說明計分契約，不是模型結果。現在沿用這個例子，把同分時的名次和命中率算一次，讓表格中的百分比有明確定義。</a:t>
            </a:r>
          </a:p>
          <a:p/>
          <a:p>
            <a:r>
              <a:rPr sz="1200" b="0">
                <a:solidFill>
                  <a:srgbClr val="183247"/>
                </a:solidFill>
                <a:latin typeface="Noto Sans CJK TC"/>
                <a:ea typeface="Noto Sans CJK TC"/>
                <a:cs typeface="Noto Sans CJK TC"/>
              </a:rPr>
              <a:t>延續剛才的玩具例子，第一個查詢和自己的資產相似度是零點九，但另一個非正解也拿零點九，所以正解的保守名次是第二。第二個查詢的正解是零點六，前面有一個零點八，也排第二。兩個查詢都沒有進第一名，所以前一名命中率是零；候選只有三個，它們當然都在前五名，所以前五名是百分之百。這個例子提醒我們，小候選庫的高命中率可能沒有多少鑑別力，不能直接當成模型品質證據。真實計分使用雙精度餘弦與固定識別碼對應，同分不給模型優惠。分母始終是原本的全部查詢，因此失敗資料不能靠刪除來改善分數，這也是後續驗收逐筆紀錄的原因。</a:t>
            </a:r>
          </a:p>
          <a:p/>
          <a:p>
            <a:r>
              <a:rPr sz="1200" b="0">
                <a:solidFill>
                  <a:srgbClr val="183247"/>
                </a:solidFill>
                <a:latin typeface="Noto Sans CJK TC"/>
                <a:ea typeface="Noto Sans CJK TC"/>
                <a:cs typeface="Noto Sans CJK TC"/>
              </a:rPr>
              <a:t>本頁重點：Query [A,B]、gallery [B,C,A]，target columns=[2,0]。</a:t>
            </a:r>
          </a:p>
          <a:p/>
          <a:p>
            <a:r>
              <a:rPr sz="1200" b="0">
                <a:solidFill>
                  <a:srgbClr val="183247"/>
                </a:solidFill>
                <a:latin typeface="Noto Sans CJK TC"/>
                <a:ea typeface="Noto Sans CJK TC"/>
                <a:cs typeface="Noto Sans CJK TC"/>
              </a:rPr>
              <a:t>來源與界線</a:t>
            </a:r>
          </a:p>
          <a:p>
            <a:r>
              <a:rPr sz="1200" b="0">
                <a:solidFill>
                  <a:srgbClr val="183247"/>
                </a:solidFill>
                <a:latin typeface="Noto Sans CJK TC"/>
                <a:ea typeface="Noto Sans CJK TC"/>
                <a:cs typeface="Noto Sans CJK TC"/>
              </a:rPr>
              <a:t>Notion §3；[最終發布版](/home/kyzen/MetaFindV1/output/validation/corpus_guard_20260908/notion_table1_stage2_published.md:183)</a:t>
            </a:r>
          </a:p>
          <a:p>
            <a:r>
              <a:rPr sz="1200" b="0">
                <a:solidFill>
                  <a:srgbClr val="183247"/>
                </a:solidFill>
                <a:latin typeface="Noto Sans CJK TC"/>
                <a:ea typeface="Noto Sans CJK TC"/>
                <a:cs typeface="Noto Sans CJK TC"/>
              </a:rPr>
              <a:t>[run_retrieval.py](/home/kyzen/MetaFindV1/metafind/eval/run_retrieval.py)</a:t>
            </a:r>
          </a:p>
          <a:p>
            <a:r>
              <a:rPr sz="1200" b="0">
                <a:solidFill>
                  <a:srgbClr val="183247"/>
                </a:solidFill>
                <a:latin typeface="Noto Sans CJK TC"/>
                <a:ea typeface="Noto Sans CJK TC"/>
                <a:cs typeface="Noto Sans CJK TC"/>
              </a:rPr>
              <a:t>[custom_table1.py](/home/kyzen/MetaFindV1/metafind/eval/custom_table1.py)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183247"/>
                </a:solidFill>
                <a:latin typeface="Noto Sans CJK TC"/>
                <a:ea typeface="Noto Sans CJK TC"/>
                <a:cs typeface="Noto Sans CJK TC"/>
              </a:rPr>
              <a:t>第 05 頁｜T＋I與T＋PC偏高：訊號依賴可見，完整根因仍未知</a:t>
            </a:r>
          </a:p>
          <a:p>
            <a:r>
              <a:rPr sz="1200" b="0">
                <a:solidFill>
                  <a:srgbClr val="183247"/>
                </a:solidFill>
                <a:latin typeface="Noto Sans CJK TC"/>
                <a:ea typeface="Noto Sans CJK TC"/>
                <a:cs typeface="Noto Sans CJK TC"/>
              </a:rPr>
              <a:t>建議時間：105 秒</a:t>
            </a:r>
          </a:p>
          <a:p/>
          <a:p>
            <a:r>
              <a:rPr sz="1200" b="0">
                <a:solidFill>
                  <a:srgbClr val="183247"/>
                </a:solidFill>
                <a:latin typeface="Noto Sans CJK TC"/>
                <a:ea typeface="Noto Sans CJK TC"/>
                <a:cs typeface="Noto Sans CJK TC"/>
              </a:rPr>
              <a:t>先看文字加圖片。歷史本地模型只用圖片就有五十七點三三，比論文那一列的十一點七高很多；加入自己的詳細文字以後，融合達到八十點一七。這支持我們優先檢查觀測和資料條件，而不是假設只有融合公式出錯。同一份保留集合裡，改成類別加尺寸文字，以及自己的縮圖，融合會降到五十三點七。不過這次同時改了文字和圖片，所以不能把下降全部算在文字頭上。更重要的是，我們不知道作者實際用的是哪一份圖片和描述，不能直接斷言本地圖片一定比作者容易。可以確認的是本地這個設定的辨識訊號很強，而完整差距尚未被單一因素解釋，同頁再看點雲融合的反證。</a:t>
            </a:r>
          </a:p>
          <a:p/>
          <a:p>
            <a:r>
              <a:rPr sz="1200" b="0">
                <a:solidFill>
                  <a:srgbClr val="183247"/>
                </a:solidFill>
                <a:latin typeface="Noto Sans CJK TC"/>
                <a:ea typeface="Noto Sans CJK TC"/>
                <a:cs typeface="Noto Sans CJK TC"/>
              </a:rPr>
              <a:t>文字加點雲的情況提供一個很重要的反證。第一階段的點雲單模態本來就接近九十七分，融合後再升到接近百分之百。若問題只是查詢和候選用了完全相同的一組點，換一次採樣應該帶來明顯影響；但實際換成同一網格的第二次採樣，點雲仍有九十六點二五，融合仍有九十九點一五。因此完全相同採樣不是充分解釋，同資產幾何本身仍有很強的識別能力。另外，文字縮成類別與尺寸時，文字加點雲仍有九十七點零九，不能簡化成詳細文字讓所有融合都變高。這些結果縮小了假說範圍，但沒有證明其他觀測或模型也一定如此，更沒有還原作者未公開的測試條件。</a:t>
            </a:r>
          </a:p>
          <a:p/>
          <a:p>
            <a:r>
              <a:rPr sz="1200" b="0">
                <a:solidFill>
                  <a:srgbClr val="183247"/>
                </a:solidFill>
                <a:latin typeface="Noto Sans CJK TC"/>
                <a:ea typeface="Noto Sans CJK TC"/>
                <a:cs typeface="Noto Sans CJK TC"/>
              </a:rPr>
              <a:t>另有四千五百六十九筆驗證池的單因素替換，圖片平均與資料池都不同，只能作依賴診斷；把別的資產當觀測，不能冒充作者協定。修過真缺陷也不等於已解釋舊截圖。</a:t>
            </a:r>
          </a:p>
          <a:p/>
          <a:p>
            <a:r>
              <a:rPr sz="1200" b="0">
                <a:solidFill>
                  <a:srgbClr val="183247"/>
                </a:solidFill>
                <a:latin typeface="Noto Sans CJK TC"/>
                <a:ea typeface="Noto Sans CJK TC"/>
                <a:cs typeface="Noto Sans CJK TC"/>
              </a:rPr>
              <a:t>本頁重點：歷史9,138×9,138 holdout；不是新custom，也不是獨立測試。</a:t>
            </a:r>
          </a:p>
          <a:p/>
          <a:p>
            <a:r>
              <a:rPr sz="1200" b="0">
                <a:solidFill>
                  <a:srgbClr val="183247"/>
                </a:solidFill>
                <a:latin typeface="Noto Sans CJK TC"/>
                <a:ea typeface="Noto Sans CJK TC"/>
                <a:cs typeface="Noto Sans CJK TC"/>
              </a:rPr>
              <a:t>來源與界線</a:t>
            </a:r>
          </a:p>
          <a:p>
            <a:r>
              <a:rPr sz="1200" b="0">
                <a:solidFill>
                  <a:srgbClr val="183247"/>
                </a:solidFill>
                <a:latin typeface="Noto Sans CJK TC"/>
                <a:ea typeface="Noto Sans CJK TC"/>
                <a:cs typeface="Noto Sans CJK TC"/>
              </a:rPr>
              <a:t>Notion §4.1–4.4；[最終發布版](/home/kyzen/MetaFindV1/output/validation/corpus_guard_20260908/notion_table1_stage2_published.md:200)</a:t>
            </a:r>
          </a:p>
          <a:p>
            <a:r>
              <a:rPr sz="1200" b="0">
                <a:solidFill>
                  <a:srgbClr val="183247"/>
                </a:solidFill>
                <a:latin typeface="Noto Sans CJK TC"/>
                <a:ea typeface="Noto Sans CJK TC"/>
                <a:cs typeface="Noto Sans CJK TC"/>
              </a:rPr>
              <a:t>[table1_final_P1s_S1head_holdout.json](/home/kyzen/MetaFindV1/output/look/table1_final_P1s_S1head_holdout.json)</a:t>
            </a:r>
          </a:p>
          <a:p>
            <a:r>
              <a:rPr sz="1200" b="0">
                <a:solidFill>
                  <a:srgbClr val="183247"/>
                </a:solidFill>
                <a:latin typeface="Noto Sans CJK TC"/>
                <a:ea typeface="Noto Sans CJK TC"/>
                <a:cs typeface="Noto Sans CJK TC"/>
              </a:rPr>
              <a:t>[table1_final_P1s_S2head_holdout.json](/home/kyzen/MetaFindV1/output/look/table1_final_P1s_S2head_holdout.json)</a:t>
            </a:r>
          </a:p>
          <a:p>
            <a:r>
              <a:rPr sz="1200" b="0">
                <a:solidFill>
                  <a:srgbClr val="183247"/>
                </a:solidFill>
                <a:latin typeface="Noto Sans CJK TC"/>
                <a:ea typeface="Noto Sans CJK TC"/>
                <a:cs typeface="Noto Sans CJK TC"/>
              </a:rPr>
              <a:t>[exp_attribution_P1s_val.json](/home/kyzen/MetaFindV1/output/look/exp_attribution_P1s_val.json)</a:t>
            </a:r>
          </a:p>
          <a:p>
            <a:r>
              <a:rPr sz="1200" b="0">
                <a:solidFill>
                  <a:srgbClr val="183247"/>
                </a:solidFill>
                <a:latin typeface="Noto Sans CJK TC"/>
                <a:ea typeface="Noto Sans CJK TC"/>
                <a:cs typeface="Noto Sans CJK TC"/>
              </a:rPr>
              <a:t>[3experiments.tex](/home/kyzen/MetaFindV1/docs/paper/metafind_source/3experiments.tex)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183247"/>
                </a:solidFill>
                <a:latin typeface="Noto Sans CJK TC"/>
                <a:ea typeface="Noto Sans CJK TC"/>
                <a:cs typeface="Noto Sans CJK TC"/>
              </a:rPr>
              <a:t>第 06 頁｜Prepare → check-only → run → 逐筆驗收</a:t>
            </a:r>
          </a:p>
          <a:p>
            <a:r>
              <a:rPr sz="1200" b="0">
                <a:solidFill>
                  <a:srgbClr val="183247"/>
                </a:solidFill>
                <a:latin typeface="Noto Sans CJK TC"/>
                <a:ea typeface="Noto Sans CJK TC"/>
                <a:cs typeface="Noto Sans CJK TC"/>
              </a:rPr>
              <a:t>建議時間：105 秒</a:t>
            </a:r>
          </a:p>
          <a:p/>
          <a:p>
            <a:r>
              <a:rPr sz="1200" b="0">
                <a:solidFill>
                  <a:srgbClr val="183247"/>
                </a:solidFill>
                <a:latin typeface="Noto Sans CJK TC"/>
                <a:ea typeface="Noto Sans CJK TC"/>
                <a:cs typeface="Noto Sans CJK TC"/>
              </a:rPr>
              <a:t>操作流程分三步，是因為每一步能檢查的事情不同。準備階段讀明確的查詢清單、候選清單和不同描述，凍結視角規則、點雲與來源雜湊。預檢不建立大型模型，先驗輸入、權重紀錄和設定能否相容，但它不能證明實際斷詞後不同，也沒有做前向計算。真正執行才載入模型，驗有效文字差異，編碼、融合並逐筆排名。兩階段完成後使用同一份協定跑三列，成功要有結果檔、可讀表格和完整逐查詢紀錄，不能只看程式離開時有沒有報錯。每次真正執行都用新目錄；失敗證據保留，不把殘缺輸出拼成完整表。完整命令放在附錄，這裡先接回第一階段完成之後的資料交接。</a:t>
            </a:r>
          </a:p>
          <a:p/>
          <a:p>
            <a:r>
              <a:rPr sz="1200" b="0">
                <a:solidFill>
                  <a:srgbClr val="183247"/>
                </a:solidFill>
                <a:latin typeface="Noto Sans CJK TC"/>
                <a:ea typeface="Noto Sans CJK TC"/>
                <a:cs typeface="Noto Sans CJK TC"/>
              </a:rPr>
              <a:t>實際操作時，準備和執行都使用新的輸出目錄，不覆寫既有資料。預檢因為不建立結果目錄，可以接著沿用同一個全新路徑執行。只有第一階段完成時先跑兩列，第二階段完成後再用同一份協定跑三列；如果來源檔案已改，即使識別碼清單相同，也不是原本的比較。完整命令另放在內容檔的操作附錄，不擠在主投影片。處理器執行是明示選項，全量仍可能耗時很久；需要顯示卡時必須另行安排資源，不能擅自與正在運作的標註或訓練競爭。</a:t>
            </a:r>
          </a:p>
          <a:p/>
          <a:p>
            <a:r>
              <a:rPr sz="1200" b="0">
                <a:solidFill>
                  <a:srgbClr val="183247"/>
                </a:solidFill>
                <a:latin typeface="Noto Sans CJK TC"/>
                <a:ea typeface="Noto Sans CJK TC"/>
                <a:cs typeface="Noto Sans CJK TC"/>
              </a:rPr>
              <a:t>本頁重點：先凍結資料與來源，真執行才驗token／forward；完整命令放講稿附錄。</a:t>
            </a:r>
          </a:p>
          <a:p/>
          <a:p>
            <a:r>
              <a:rPr sz="1200" b="0">
                <a:solidFill>
                  <a:srgbClr val="183247"/>
                </a:solidFill>
                <a:latin typeface="Noto Sans CJK TC"/>
                <a:ea typeface="Noto Sans CJK TC"/>
                <a:cs typeface="Noto Sans CJK TC"/>
              </a:rPr>
              <a:t>來源與界線</a:t>
            </a:r>
          </a:p>
          <a:p>
            <a:r>
              <a:rPr sz="1200" b="0">
                <a:solidFill>
                  <a:srgbClr val="183247"/>
                </a:solidFill>
                <a:latin typeface="Noto Sans CJK TC"/>
                <a:ea typeface="Noto Sans CJK TC"/>
                <a:cs typeface="Noto Sans CJK TC"/>
              </a:rPr>
              <a:t>Notion §5.1–5.5；[最終發布版](/home/kyzen/MetaFindV1/output/validation/corpus_guard_20260908/notion_table1_stage2_published.md:316)</a:t>
            </a:r>
          </a:p>
          <a:p>
            <a:r>
              <a:rPr sz="1200" b="0">
                <a:solidFill>
                  <a:srgbClr val="183247"/>
                </a:solidFill>
                <a:latin typeface="Noto Sans CJK TC"/>
                <a:ea typeface="Noto Sans CJK TC"/>
                <a:cs typeface="Noto Sans CJK TC"/>
              </a:rPr>
              <a:t>[custom_protocol.py](/home/kyzen/MetaFindV1/metafind/eval/custom_protocol.py)</a:t>
            </a:r>
          </a:p>
          <a:p>
            <a:r>
              <a:rPr sz="1200" b="0">
                <a:solidFill>
                  <a:srgbClr val="183247"/>
                </a:solidFill>
                <a:latin typeface="Noto Sans CJK TC"/>
                <a:ea typeface="Noto Sans CJK TC"/>
                <a:cs typeface="Noto Sans CJK TC"/>
              </a:rPr>
              <a:t>[custom_table1.py](/home/kyzen/MetaFindV1/metafind/eval/custom_table1.py)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183247"/>
                </a:solidFill>
                <a:latin typeface="Noto Sans CJK TC"/>
                <a:ea typeface="Noto Sans CJK TC"/>
                <a:cs typeface="Noto Sans CJK TC"/>
              </a:rPr>
              <a:t>第 07 頁｜G3要在n09後另跑；S1選模與報分重疊須明記</a:t>
            </a:r>
          </a:p>
          <a:p>
            <a:r>
              <a:rPr sz="1200" b="0">
                <a:solidFill>
                  <a:srgbClr val="183247"/>
                </a:solidFill>
                <a:latin typeface="Noto Sans CJK TC"/>
                <a:ea typeface="Noto Sans CJK TC"/>
                <a:cs typeface="Noto Sans CJK TC"/>
              </a:rPr>
              <a:t>建議時間：105 秒</a:t>
            </a:r>
          </a:p>
          <a:p/>
          <a:p>
            <a:r>
              <a:rPr sz="1200" b="0">
                <a:solidFill>
                  <a:srgbClr val="183247"/>
                </a:solidFill>
                <a:latin typeface="Noto Sans CJK TC"/>
                <a:ea typeface="Noto Sans CJK TC"/>
                <a:cs typeface="Noto Sans CJK TC"/>
              </a:rPr>
              <a:t>這是目前最容易誤讀的一個地方。程式實際保留八成訓練、一成驗證、一成測試，保留集合是後面兩者的聯集。自動鏈選的第一個協定用整份保留集合查整份保留集合；第二個完整候選庫協定，查詢卻只有測試那一半。因此兩者的分數差，同時混有候選庫和查詢集合的差別，不能直接當成增加候選數的效果。還有，本條第一階段命令明確在整份保留集合上選模型，所以第二個協定的測試子集也已包含在選模範圍內。名稱叫測試或使用解封旗標，都不會消除這個事實。這是已記錄的比較設定，報告必須保留重疊界線；若要控制候選數，必須固定同一批查詢。</a:t>
            </a:r>
          </a:p>
          <a:p/>
          <a:p>
            <a:r>
              <a:rPr sz="1200" b="0">
                <a:solidFill>
                  <a:srgbClr val="183247"/>
                </a:solidFill>
                <a:latin typeface="Noto Sans CJK TC"/>
                <a:ea typeface="Noto Sans CJK TC"/>
                <a:cs typeface="Noto Sans CJK TC"/>
              </a:rPr>
              <a:t>人工排除的研究決策已經完成，不再是等待使用者回答的問題。原始清單作為分母，成功收錄的資產記為甲，有真實處理失敗證據的資產記為失敗集合，人工排除另外記錄，三者不能重複也不能漏掉原始資產。歷史穩定資料已用新版部分預檢通過四萬六千零五十二等於四萬五千六百九十二加三百三十九加二十一的守恆。可是正在重建的論文資料缺分割、人工排除紀錄和必要協定，所以仍然被阻擋。這個預檢要讀取分割與訓練協定，必須在分割產生之後執行，而且目前沒有接進自動等待鏈。完整實作標記仍為假，不能把這個輸入檢查說成已驗過快取向量、實際訓練或完整正式關卡。</a:t>
            </a:r>
          </a:p>
          <a:p/>
          <a:p>
            <a:r>
              <a:rPr sz="1200" b="0">
                <a:solidFill>
                  <a:srgbClr val="183247"/>
                </a:solidFill>
                <a:latin typeface="Noto Sans CJK TC"/>
                <a:ea typeface="Noto Sans CJK TC"/>
                <a:cs typeface="Noto Sans CJK TC"/>
              </a:rPr>
              <a:t>第一階段交付還包括權重與選模身分，接著建立候選索引、驗身分再發布。候選凍結檢查不認證獨立測試性；新版等待腳本先存人工排除清單再搬檔，仍未自動執行語料預檢。</a:t>
            </a:r>
          </a:p>
          <a:p/>
          <a:p>
            <a:r>
              <a:rPr sz="1200" b="0">
                <a:solidFill>
                  <a:srgbClr val="183247"/>
                </a:solidFill>
                <a:latin typeface="Noto Sans CJK TC"/>
                <a:ea typeface="Noto Sans CJK TC"/>
                <a:cs typeface="Noto Sans CJK TC"/>
              </a:rPr>
              <a:t>本頁重點：Stable部分PASS不是paper PASS；A20與B也不是相同query。</a:t>
            </a:r>
          </a:p>
          <a:p/>
          <a:p>
            <a:r>
              <a:rPr sz="1200" b="0">
                <a:solidFill>
                  <a:srgbClr val="183247"/>
                </a:solidFill>
                <a:latin typeface="Noto Sans CJK TC"/>
                <a:ea typeface="Noto Sans CJK TC"/>
                <a:cs typeface="Noto Sans CJK TC"/>
              </a:rPr>
              <a:t>來源與界線</a:t>
            </a:r>
          </a:p>
          <a:p>
            <a:r>
              <a:rPr sz="1200" b="0">
                <a:solidFill>
                  <a:srgbClr val="183247"/>
                </a:solidFill>
                <a:latin typeface="Noto Sans CJK TC"/>
                <a:ea typeface="Noto Sans CJK TC"/>
                <a:cs typeface="Noto Sans CJK TC"/>
              </a:rPr>
              <a:t>Notion §6、§7.1–7.2；[最終發布版](/home/kyzen/MetaFindV1/output/validation/corpus_guard_20260908/notion_table1_stage2_published.md:410)</a:t>
            </a:r>
          </a:p>
          <a:p>
            <a:r>
              <a:rPr sz="1200" b="0">
                <a:solidFill>
                  <a:srgbClr val="183247"/>
                </a:solidFill>
                <a:latin typeface="Noto Sans CJK TC"/>
                <a:ea typeface="Noto Sans CJK TC"/>
                <a:cs typeface="Noto Sans CJK TC"/>
              </a:rPr>
              <a:t>[DECISION_LEDGER.md](/home/kyzen/MetaFindV1/workflow/DECISION_LEDGER.md)</a:t>
            </a:r>
          </a:p>
          <a:p>
            <a:r>
              <a:rPr sz="1200" b="0">
                <a:solidFill>
                  <a:srgbClr val="183247"/>
                </a:solidFill>
                <a:latin typeface="Noto Sans CJK TC"/>
                <a:ea typeface="Noto Sans CJK TC"/>
                <a:cs typeface="Noto Sans CJK TC"/>
              </a:rPr>
              <a:t>[splits.py](/home/kyzen/MetaFindV1/metafind/data/splits.py)</a:t>
            </a:r>
          </a:p>
          <a:p>
            <a:r>
              <a:rPr sz="1200" b="0">
                <a:solidFill>
                  <a:srgbClr val="183247"/>
                </a:solidFill>
                <a:latin typeface="Noto Sans CJK TC"/>
                <a:ea typeface="Noto Sans CJK TC"/>
                <a:cs typeface="Noto Sans CJK TC"/>
              </a:rPr>
              <a:t>[G3_object_corpus.yaml](/home/kyzen/MetaFindV1/docs/audit/corpus_20260908_artifacts/g3_final/historical/G3_object_corpus.yaml)</a:t>
            </a:r>
          </a:p>
          <a:p>
            <a:r>
              <a:rPr sz="1200" b="0">
                <a:solidFill>
                  <a:srgbClr val="183247"/>
                </a:solidFill>
                <a:latin typeface="Noto Sans CJK TC"/>
                <a:ea typeface="Noto Sans CJK TC"/>
                <a:cs typeface="Noto Sans CJK TC"/>
              </a:rPr>
              <a:t>[G3_object_corpus.yaml](/home/kyzen/MetaFindV1/docs/audit/corpus_20260908_artifacts/g3_final/paper_in_progress/G3_object_corpus.yaml)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183247"/>
                </a:solidFill>
                <a:latin typeface="Noto Sans CJK TC"/>
                <a:ea typeface="Noto Sans CJK TC"/>
                <a:cs typeface="Noto Sans CJK TC"/>
              </a:rPr>
              <a:t>第 08 頁｜先接好場景資料，再驗真正的S2更新</a:t>
            </a:r>
          </a:p>
          <a:p>
            <a:r>
              <a:rPr sz="1200" b="0">
                <a:solidFill>
                  <a:srgbClr val="183247"/>
                </a:solidFill>
                <a:latin typeface="Noto Sans CJK TC"/>
                <a:ea typeface="Noto Sans CJK TC"/>
                <a:cs typeface="Noto Sans CJK TC"/>
              </a:rPr>
              <a:t>建議時間：105 秒</a:t>
            </a:r>
          </a:p>
          <a:p/>
          <a:p>
            <a:r>
              <a:rPr sz="1200" b="0">
                <a:solidFill>
                  <a:srgbClr val="183247"/>
                </a:solidFill>
                <a:latin typeface="Noto Sans CJK TC"/>
                <a:ea typeface="Noto Sans CJK TC"/>
                <a:cs typeface="Noto Sans CJK TC"/>
              </a:rPr>
              <a:t>第二階段不是把第一階段權重再多訓練一次而已，它還需要一套場景資料交接。房屋圖和孤立物件影像先形成可用資產，再由描述與結構化資料產生標準文字，接著固定房間範圍、模態和場景編碼設定。節點文字和關係文字走各自欄位，生成並編碼後才建立房屋分割與候選索引。目前主線宣告的是文字加圖片，就算磁碟有深度點雲，也不表示訓練會使用它。另一個關鍵是索引必須消費更新後的標準文字，不能混用渲染時留下的舊句子。文字改了，節點向量和候選索引都要重建並核對來源，不是補一個今天的雜湊就能證明舊向量用對資料。</a:t>
            </a:r>
          </a:p>
          <a:p/>
          <a:p>
            <a:r>
              <a:rPr sz="1200" b="0">
                <a:solidFill>
                  <a:srgbClr val="183247"/>
                </a:solidFill>
                <a:latin typeface="Noto Sans CJK TC"/>
                <a:ea typeface="Noto Sans CJK TC"/>
                <a:cs typeface="Noto Sans CJK TC"/>
              </a:rPr>
              <a:t>目前微調配方的名目學習率是五乘十的負五次方，一個週期、批次六十四，固定溫度零點五，場景丟棄率三成。實際每一步的學習率仍受暖身排程影響，必須讀訓練紀錄。模型凍結基礎編碼器和候選塔，只更新查詢融合、場景圖網路與佈局參數。目標要從房間上下文移除，批次內避免重複正解資產；沒有可用批次或參數更新，就不能交出一份冒充完成的權重。子模型還必須綁父模型、協定與實際場景輸入，消費者不能用今天的預設值代替當時配方。</a:t>
            </a:r>
          </a:p>
          <a:p/>
          <a:p>
            <a:r>
              <a:rPr sz="1200" b="0">
                <a:solidFill>
                  <a:srgbClr val="183247"/>
                </a:solidFill>
                <a:latin typeface="Noto Sans CJK TC"/>
                <a:ea typeface="Noto Sans CJK TC"/>
                <a:cs typeface="Noto Sans CJK TC"/>
              </a:rPr>
              <a:t>本頁重點：Room context＋text／image；凍結backbone／gallery，更新query fusion與ESSGNN。</a:t>
            </a:r>
          </a:p>
          <a:p/>
          <a:p>
            <a:r>
              <a:rPr sz="1200" b="0">
                <a:solidFill>
                  <a:srgbClr val="183247"/>
                </a:solidFill>
                <a:latin typeface="Noto Sans CJK TC"/>
                <a:ea typeface="Noto Sans CJK TC"/>
                <a:cs typeface="Noto Sans CJK TC"/>
              </a:rPr>
              <a:t>來源與界線</a:t>
            </a:r>
          </a:p>
          <a:p>
            <a:r>
              <a:rPr sz="1200" b="0">
                <a:solidFill>
                  <a:srgbClr val="183247"/>
                </a:solidFill>
                <a:latin typeface="Noto Sans CJK TC"/>
                <a:ea typeface="Noto Sans CJK TC"/>
                <a:cs typeface="Noto Sans CJK TC"/>
              </a:rPr>
              <a:t>Notion §8.1–8.2；[最終發布版](/home/kyzen/MetaFindV1/output/validation/corpus_guard_20260908/notion_table1_stage2_published.md:514)</a:t>
            </a:r>
          </a:p>
          <a:p>
            <a:r>
              <a:rPr sz="1200" b="0">
                <a:solidFill>
                  <a:srgbClr val="183247"/>
                </a:solidFill>
                <a:latin typeface="Noto Sans CJK TC"/>
                <a:ea typeface="Noto Sans CJK TC"/>
                <a:cs typeface="Noto Sans CJK TC"/>
              </a:rPr>
              <a:t>[stage2.py](/home/kyzen/MetaFindV1/metafind/train/stage2.py)</a:t>
            </a:r>
          </a:p>
          <a:p>
            <a:r>
              <a:rPr sz="1200" b="0">
                <a:solidFill>
                  <a:srgbClr val="183247"/>
                </a:solidFill>
                <a:latin typeface="Noto Sans CJK TC"/>
                <a:ea typeface="Noto Sans CJK TC"/>
                <a:cs typeface="Noto Sans CJK TC"/>
              </a:rPr>
              <a:t>[resolve_stage2.py](/home/kyzen/MetaFindV1/metafind/models/resolve_stage2.py)</a:t>
            </a:r>
          </a:p>
          <a:p>
            <a:r>
              <a:rPr sz="1200" b="0">
                <a:solidFill>
                  <a:srgbClr val="183247"/>
                </a:solidFill>
                <a:latin typeface="Noto Sans CJK TC"/>
                <a:ea typeface="Noto Sans CJK TC"/>
                <a:cs typeface="Noto Sans CJK TC"/>
              </a:rPr>
              <a:t>[stage2_hyperparameters_ft_lr5e-5.json](/home/kyzen/MetaFindV1/workflow/stage2_hyperparameters_ft_lr5e-5.json)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183247"/>
                </a:solidFill>
                <a:latin typeface="Noto Sans CJK TC"/>
                <a:ea typeface="Noto Sans CJK TC"/>
                <a:cs typeface="Noto Sans CJK TC"/>
              </a:rPr>
              <a:t>第 09 頁｜物件S2-off、場景S2-on、完整品質分開交付</a:t>
            </a:r>
          </a:p>
          <a:p>
            <a:r>
              <a:rPr sz="1200" b="0">
                <a:solidFill>
                  <a:srgbClr val="183247"/>
                </a:solidFill>
                <a:latin typeface="Noto Sans CJK TC"/>
                <a:ea typeface="Noto Sans CJK TC"/>
                <a:cs typeface="Noto Sans CJK TC"/>
              </a:rPr>
              <a:t>建議時間：105 秒</a:t>
            </a:r>
          </a:p>
          <a:p/>
          <a:p>
            <a:r>
              <a:rPr sz="1200" b="0">
                <a:solidFill>
                  <a:srgbClr val="183247"/>
                </a:solidFill>
                <a:latin typeface="Noto Sans CJK TC"/>
                <a:ea typeface="Noto Sans CJK TC"/>
                <a:cs typeface="Noto Sans CJK TC"/>
              </a:rPr>
              <a:t>第二階段完成以後，第一條路在物件資料上關閉佈局，只看更新後的查詢融合。第二條路在場景資料上，同時比較第一階段、第二階段關閉與開啟佈局，使用房間上下文作檢索診斷。第三條路才是真正逐步建立場景：每次先編碼目前已放置物件的圖，再取回資產、放進指定位置，更新圖供下一次查詢。平行對照每次只讀最初的圖，不能把它與物件無佈局評估混為一談。專案已批准用本地模型作裁判、省略人評，但目前評分元件只驗外部協定與產物，不負責呼叫裁判。</a:t>
            </a:r>
          </a:p>
          <a:p/>
          <a:p>
            <a:r>
              <a:rPr sz="1200" b="0">
                <a:solidFill>
                  <a:srgbClr val="183247"/>
                </a:solidFill>
                <a:latin typeface="Noto Sans CJK TC"/>
                <a:ea typeface="Noto Sans CJK TC"/>
                <a:cs typeface="Noto Sans CJK TC"/>
              </a:rPr>
              <a:t>已有證據包含兩階段各一次真實參數更新、另一程序嚴格還原，以及兩查詢對六候選的四十二組比較。八十四筆紀錄能對上名次，候選向量保持不變，但其中一個查詢參與過選模。場景另有六候選、三個位置的真模型與渲染路徑，控制條件取回的資產相同，不能宣稱佈局改善品質。最後一千八百零五項測試與兩千三百四十二項圖檢查提供工程證據，也不能讓小樣本變成正式結果。正式場景清單、鏡頭和評分仍需明示並執行。</a:t>
            </a:r>
          </a:p>
          <a:p/>
          <a:p>
            <a:r>
              <a:rPr sz="1200" b="0">
                <a:solidFill>
                  <a:srgbClr val="183247"/>
                </a:solidFill>
                <a:latin typeface="Noto Sans CJK TC"/>
                <a:ea typeface="Noto Sans CJK TC"/>
                <a:cs typeface="Noto Sans CJK TC"/>
              </a:rPr>
              <a:t>本頁重點：42組小型真CPU已完成；單步／三slot／測試數量不等於正式復現。</a:t>
            </a:r>
          </a:p>
          <a:p/>
          <a:p>
            <a:r>
              <a:rPr sz="1200" b="0">
                <a:solidFill>
                  <a:srgbClr val="183247"/>
                </a:solidFill>
                <a:latin typeface="Noto Sans CJK TC"/>
                <a:ea typeface="Noto Sans CJK TC"/>
                <a:cs typeface="Noto Sans CJK TC"/>
              </a:rPr>
              <a:t>來源與界線</a:t>
            </a:r>
          </a:p>
          <a:p>
            <a:r>
              <a:rPr sz="1200" b="0">
                <a:solidFill>
                  <a:srgbClr val="183247"/>
                </a:solidFill>
                <a:latin typeface="Noto Sans CJK TC"/>
                <a:ea typeface="Noto Sans CJK TC"/>
                <a:cs typeface="Noto Sans CJK TC"/>
              </a:rPr>
              <a:t>Notion §9、§10；[最終發布版](/home/kyzen/MetaFindV1/output/validation/corpus_guard_20260908/notion_table1_stage2_published.md:584)</a:t>
            </a:r>
          </a:p>
          <a:p>
            <a:r>
              <a:rPr sz="1200" b="0">
                <a:solidFill>
                  <a:srgbClr val="183247"/>
                </a:solidFill>
                <a:latin typeface="Noto Sans CJK TC"/>
                <a:ea typeface="Noto Sans CJK TC"/>
                <a:cs typeface="Noto Sans CJK TC"/>
              </a:rPr>
              <a:t>[verification.json](/home/kyzen/MetaFindV1/docs/audit/validation_artifacts_20260907_08/custom_table1_cpu_new_stages_20260908/verification.json)</a:t>
            </a:r>
          </a:p>
          <a:p>
            <a:r>
              <a:rPr sz="1200" b="0">
                <a:solidFill>
                  <a:srgbClr val="183247"/>
                </a:solidFill>
                <a:latin typeface="Noto Sans CJK TC"/>
                <a:ea typeface="Noto Sans CJK TC"/>
                <a:cs typeface="Noto Sans CJK TC"/>
              </a:rPr>
              <a:t>[REPRODUCTION_CORPUS_REVIEW_20260908.md](/home/kyzen/MetaFindV1/docs/audit/REPRODUCTION_CORPUS_REVIEW_20260908.md)</a:t>
            </a:r>
          </a:p>
          <a:p>
            <a:r>
              <a:rPr sz="1200" b="0">
                <a:solidFill>
                  <a:srgbClr val="183247"/>
                </a:solidFill>
                <a:latin typeface="Noto Sans CJK TC"/>
                <a:ea typeface="Noto Sans CJK TC"/>
                <a:cs typeface="Noto Sans CJK TC"/>
              </a:rPr>
              <a:t>[scene_scores.py](/home/kyzen/MetaFindV1/metafind/eval/scene_scores.py)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183247"/>
                </a:solidFill>
                <a:latin typeface="Noto Sans CJK TC"/>
                <a:ea typeface="Noto Sans CJK TC"/>
                <a:cs typeface="Noto Sans CJK TC"/>
              </a:rPr>
              <a:t>第 10 頁｜按來源與產物驗收，不按DONE或高分結案</a:t>
            </a:r>
          </a:p>
          <a:p>
            <a:r>
              <a:rPr sz="1200" b="0">
                <a:solidFill>
                  <a:srgbClr val="183247"/>
                </a:solidFill>
                <a:latin typeface="Noto Sans CJK TC"/>
                <a:ea typeface="Noto Sans CJK TC"/>
                <a:cs typeface="Noto Sans CJK TC"/>
              </a:rPr>
              <a:t>建議時間：105 秒</a:t>
            </a:r>
          </a:p>
          <a:p/>
          <a:p>
            <a:r>
              <a:rPr sz="1200" b="0">
                <a:solidFill>
                  <a:srgbClr val="183247"/>
                </a:solidFill>
                <a:latin typeface="Noto Sans CJK TC"/>
                <a:ea typeface="Noto Sans CJK TC"/>
                <a:cs typeface="Noto Sans CJK TC"/>
              </a:rPr>
              <a:t>後續工作可以依資料依賴逐項驗收。先等標註完成，保存人工排除清單，完成編碼與分割，再另外執行新資料的部分語料預檢。第一階段交付權重和選模身分後，候選索引與既有評估繼續，新自訂評估則用固定清單另跑。第二階段把場景文字、語義、分割和索引來源接好，完成實際訓練與還原後，再用同一份協定比較三列。每一步都看它自己的產物，而不是一個完成字樣。正式場景清單、鏡頭和裁判協定仍需要明示並執行；沒有分數不能補零，也不能刪掉失敗場景縮小分母。</a:t>
            </a:r>
          </a:p>
          <a:p/>
          <a:p>
            <a:r>
              <a:rPr sz="1200" b="0">
                <a:solidFill>
                  <a:srgbClr val="183247"/>
                </a:solidFill>
                <a:latin typeface="Noto Sans CJK TC"/>
                <a:ea typeface="Noto Sans CJK TC"/>
                <a:cs typeface="Noto Sans CJK TC"/>
              </a:rPr>
              <a:t>這裡的順序是資料依賴與驗收安排，不代表目前等待腳本已串好所有檢查。兩條自動鏈都沒有呼叫語料預檢或新自訂評估，而且第二階段場景探測失敗後仍可能繼續製表，因此必須核對獨立輸出。發布時也要附上完整命令、資料和模型雜湊、原始紀錄、逐查詢名次與仍屬未知的研究設定。今天的具體成果是讓既有路徑有可追溯的規則和小型真實執行證據。正式目標仍是回答什麼設定下模型有效，而不是先決定一個想得到的論文分數。</a:t>
            </a:r>
          </a:p>
          <a:p/>
          <a:p>
            <a:r>
              <a:rPr sz="1200" b="0">
                <a:solidFill>
                  <a:srgbClr val="183247"/>
                </a:solidFill>
                <a:latin typeface="Noto Sans CJK TC"/>
                <a:ea typeface="Noto Sans CJK TC"/>
                <a:cs typeface="Noto Sans CJK TC"/>
              </a:rPr>
              <a:t>本頁重點：先完成新corpus與訓練交接，再以同一protocol產生完整比較。</a:t>
            </a:r>
          </a:p>
          <a:p/>
          <a:p>
            <a:r>
              <a:rPr sz="1200" b="0">
                <a:solidFill>
                  <a:srgbClr val="183247"/>
                </a:solidFill>
                <a:latin typeface="Noto Sans CJK TC"/>
                <a:ea typeface="Noto Sans CJK TC"/>
                <a:cs typeface="Noto Sans CJK TC"/>
              </a:rPr>
              <a:t>來源與界線</a:t>
            </a:r>
          </a:p>
          <a:p>
            <a:r>
              <a:rPr sz="1200" b="0">
                <a:solidFill>
                  <a:srgbClr val="183247"/>
                </a:solidFill>
                <a:latin typeface="Noto Sans CJK TC"/>
                <a:ea typeface="Noto Sans CJK TC"/>
                <a:cs typeface="Noto Sans CJK TC"/>
              </a:rPr>
              <a:t>Notion §11、§7.3；[最終發布版](/home/kyzen/MetaFindV1/output/validation/corpus_guard_20260908/notion_table1_stage2_published.md:661)</a:t>
            </a:r>
          </a:p>
          <a:p>
            <a:r>
              <a:rPr sz="1200" b="0">
                <a:solidFill>
                  <a:srgbClr val="183247"/>
                </a:solidFill>
                <a:latin typeface="Noto Sans CJK TC"/>
                <a:ea typeface="Noto Sans CJK TC"/>
                <a:cs typeface="Noto Sans CJK TC"/>
              </a:rPr>
              <a:t>[REPRODUCTION_CORPUS_REVIEW_20260908.md](/home/kyzen/MetaFindV1/docs/audit/REPRODUCTION_CORPUS_REVIEW_20260908.md)</a:t>
            </a:r>
          </a:p>
          <a:p>
            <a:r>
              <a:rPr sz="1200" b="0">
                <a:solidFill>
                  <a:srgbClr val="183247"/>
                </a:solidFill>
                <a:latin typeface="Noto Sans CJK TC"/>
                <a:ea typeface="Noto Sans CJK TC"/>
                <a:cs typeface="Noto Sans CJK TC"/>
              </a:rPr>
              <a:t>[chain_paper_stage2.sh](/home/kyzen/MetaFindV1/tools/chain_paper_stage2.sh)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fb0e74e5b80c8b141e686994fef70?pvs=204"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fb0e74e5b80c8b141e686994fef70?pvs=204"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fb0e74e5b80c8b141e686994fef70?pvs=204"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fb0e74e5b80c8b141e686994fef70?pvs=204" TargetMode="External"/><Relationship Id="rId3"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fb0e74e5b80c8b141e686994fef70?pvs=204"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fb0e74e5b80c8b141e686994fef70?pvs=204"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fb0e74e5b80c8b141e686994fef70?pvs=204"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fb0e74e5b80c8b141e686994fef70?pvs=204"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fb0e74e5b80c8b141e686994fef70?pvs=204" TargetMode="External"/><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247"/>
        </a:solidFill>
        <a:effectLst/>
      </p:bgPr>
    </p:bg>
    <p:spTree>
      <p:nvGrpSpPr>
        <p:cNvPr id="1" name=""/>
        <p:cNvGrpSpPr/>
        <p:nvPr/>
      </p:nvGrpSpPr>
      <p:grpSpPr/>
      <p:sp>
        <p:nvSpPr>
          <p:cNvPr id="2" name="TextBox 1"/>
          <p:cNvSpPr txBox="1"/>
          <p:nvPr/>
        </p:nvSpPr>
        <p:spPr>
          <a:xfrm>
            <a:off x="667512" y="539496"/>
            <a:ext cx="10789920" cy="365760"/>
          </a:xfrm>
          <a:prstGeom prst="rect">
            <a:avLst/>
          </a:prstGeom>
          <a:noFill/>
        </p:spPr>
        <p:txBody>
          <a:bodyPr wrap="square" lIns="13716" rIns="13716" tIns="9144" bIns="9144">
            <a:spAutoFit/>
          </a:bodyPr>
          <a:lstStyle/>
          <a:p>
            <a:pPr algn="l">
              <a:lnSpc>
                <a:spcPct val="112000"/>
              </a:lnSpc>
              <a:spcBef>
                <a:spcPts val="0"/>
              </a:spcBef>
              <a:spcAft>
                <a:spcPts val="200"/>
              </a:spcAft>
            </a:pPr>
            <a:r>
              <a:rPr sz="1300" b="1">
                <a:solidFill>
                  <a:srgbClr val="67C5C4"/>
                </a:solidFill>
                <a:latin typeface="Noto Sans CJK TC"/>
                <a:ea typeface="Noto Sans CJK TC"/>
                <a:cs typeface="Noto Sans CJK TC"/>
              </a:rPr>
              <a:t>METAFIND  /  REPRODUCTION BRIEF</a:t>
            </a:r>
          </a:p>
        </p:txBody>
      </p:sp>
      <p:sp>
        <p:nvSpPr>
          <p:cNvPr id="3" name="TextBox 2"/>
          <p:cNvSpPr txBox="1"/>
          <p:nvPr/>
        </p:nvSpPr>
        <p:spPr>
          <a:xfrm>
            <a:off x="658368" y="1417320"/>
            <a:ext cx="6995160" cy="1773936"/>
          </a:xfrm>
          <a:prstGeom prst="rect">
            <a:avLst/>
          </a:prstGeom>
          <a:noFill/>
        </p:spPr>
        <p:txBody>
          <a:bodyPr wrap="square" lIns="13716" rIns="13716" tIns="9144" bIns="9144">
            <a:spAutoFit/>
          </a:bodyPr>
          <a:lstStyle/>
          <a:p>
            <a:pPr algn="l">
              <a:lnSpc>
                <a:spcPct val="112000"/>
              </a:lnSpc>
              <a:spcBef>
                <a:spcPts val="0"/>
              </a:spcBef>
              <a:spcAft>
                <a:spcPts val="200"/>
              </a:spcAft>
            </a:pPr>
            <a:r>
              <a:rPr sz="4300" b="1">
                <a:solidFill>
                  <a:srgbClr val="FFFFFF"/>
                </a:solidFill>
                <a:latin typeface="Noto Sans CJK TC"/>
                <a:ea typeface="Noto Sans CJK TC"/>
                <a:cs typeface="Noto Sans CJK TC"/>
              </a:rPr>
              <a:t>Table 1 評估</a:t>
            </a:r>
          </a:p>
          <a:p>
            <a:pPr algn="l">
              <a:lnSpc>
                <a:spcPct val="112000"/>
              </a:lnSpc>
              <a:spcBef>
                <a:spcPts val="0"/>
              </a:spcBef>
              <a:spcAft>
                <a:spcPts val="200"/>
              </a:spcAft>
            </a:pPr>
            <a:r>
              <a:rPr sz="4300" b="1">
                <a:solidFill>
                  <a:srgbClr val="FFFFFF"/>
                </a:solidFill>
                <a:latin typeface="Noto Sans CJK TC"/>
                <a:ea typeface="Noto Sans CJK TC"/>
                <a:cs typeface="Noto Sans CJK TC"/>
              </a:rPr>
              <a:t>與 Stage 2</a:t>
            </a:r>
          </a:p>
        </p:txBody>
      </p:sp>
      <p:sp>
        <p:nvSpPr>
          <p:cNvPr id="4" name="TextBox 3"/>
          <p:cNvSpPr txBox="1"/>
          <p:nvPr/>
        </p:nvSpPr>
        <p:spPr>
          <a:xfrm>
            <a:off x="685800" y="3465576"/>
            <a:ext cx="6949440" cy="640080"/>
          </a:xfrm>
          <a:prstGeom prst="rect">
            <a:avLst/>
          </a:prstGeom>
          <a:noFill/>
        </p:spPr>
        <p:txBody>
          <a:bodyPr wrap="square" lIns="13716" rIns="13716" tIns="9144" bIns="9144">
            <a:spAutoFit/>
          </a:bodyPr>
          <a:lstStyle/>
          <a:p>
            <a:pPr algn="l">
              <a:lnSpc>
                <a:spcPct val="112000"/>
              </a:lnSpc>
              <a:spcBef>
                <a:spcPts val="0"/>
              </a:spcBef>
              <a:spcAft>
                <a:spcPts val="200"/>
              </a:spcAft>
            </a:pPr>
            <a:r>
              <a:rPr sz="2500" b="0">
                <a:solidFill>
                  <a:srgbClr val="C6D8E1"/>
                </a:solidFill>
                <a:latin typeface="Noto Sans CJK TC"/>
                <a:ea typeface="Noto Sans CJK TC"/>
                <a:cs typeface="Noto Sans CJK TC"/>
              </a:rPr>
              <a:t>方法、證據與下一步</a:t>
            </a:r>
          </a:p>
        </p:txBody>
      </p:sp>
      <p:sp>
        <p:nvSpPr>
          <p:cNvPr id="5" name="TextBox 4"/>
          <p:cNvSpPr txBox="1"/>
          <p:nvPr/>
        </p:nvSpPr>
        <p:spPr>
          <a:xfrm>
            <a:off x="694944" y="4581144"/>
            <a:ext cx="6492240" cy="859536"/>
          </a:xfrm>
          <a:prstGeom prst="rect">
            <a:avLst/>
          </a:prstGeom>
          <a:noFill/>
        </p:spPr>
        <p:txBody>
          <a:bodyPr wrap="square" lIns="13716" rIns="13716" tIns="9144" bIns="9144">
            <a:spAutoFit/>
          </a:bodyPr>
          <a:lstStyle/>
          <a:p>
            <a:pPr algn="l">
              <a:lnSpc>
                <a:spcPct val="112000"/>
              </a:lnSpc>
              <a:spcBef>
                <a:spcPts val="0"/>
              </a:spcBef>
              <a:spcAft>
                <a:spcPts val="200"/>
              </a:spcAft>
            </a:pPr>
            <a:r>
              <a:rPr sz="2000" b="0">
                <a:solidFill>
                  <a:srgbClr val="C6D8E1"/>
                </a:solidFill>
                <a:latin typeface="Noto Sans CJK TC"/>
                <a:ea typeface="Noto Sans CJK TC"/>
                <a:cs typeface="Noto Sans CJK TC"/>
              </a:rPr>
              <a:t>同一 UID 的檢索比較</a:t>
            </a:r>
          </a:p>
          <a:p>
            <a:pPr algn="l">
              <a:lnSpc>
                <a:spcPct val="112000"/>
              </a:lnSpc>
              <a:spcBef>
                <a:spcPts val="0"/>
              </a:spcBef>
              <a:spcAft>
                <a:spcPts val="200"/>
              </a:spcAft>
            </a:pPr>
            <a:r>
              <a:rPr sz="2000" b="0">
                <a:solidFill>
                  <a:srgbClr val="C6D8E1"/>
                </a:solidFill>
                <a:latin typeface="Noto Sans CJK TC"/>
                <a:ea typeface="Noto Sans CJK TC"/>
                <a:cs typeface="Noto Sans CJK TC"/>
              </a:rPr>
              <a:t>場景條件下的 layout 驗證</a:t>
            </a:r>
          </a:p>
        </p:txBody>
      </p:sp>
      <p:sp>
        <p:nvSpPr>
          <p:cNvPr id="6" name="TextBox 5"/>
          <p:cNvSpPr txBox="1"/>
          <p:nvPr/>
        </p:nvSpPr>
        <p:spPr>
          <a:xfrm>
            <a:off x="694944" y="6126480"/>
            <a:ext cx="9692640" cy="320040"/>
          </a:xfrm>
          <a:prstGeom prst="rect">
            <a:avLst/>
          </a:prstGeom>
          <a:noFill/>
        </p:spPr>
        <p:txBody>
          <a:bodyPr wrap="square" lIns="13716" rIns="13716" tIns="9144" bIns="9144">
            <a:spAutoFit/>
          </a:bodyPr>
          <a:lstStyle/>
          <a:p>
            <a:pPr algn="l">
              <a:lnSpc>
                <a:spcPct val="112000"/>
              </a:lnSpc>
              <a:spcBef>
                <a:spcPts val="0"/>
              </a:spcBef>
              <a:spcAft>
                <a:spcPts val="200"/>
              </a:spcAft>
            </a:pPr>
            <a:r>
              <a:rPr sz="1200" b="0">
                <a:solidFill>
                  <a:srgbClr val="A9C2CD"/>
                </a:solidFill>
                <a:latin typeface="Noto Sans CJK TC"/>
                <a:ea typeface="Noto Sans CJK TC"/>
                <a:cs typeface="Noto Sans CJK TC"/>
              </a:rPr>
              <a:t>2026.09.08  ·  研究進度報告  ·  含逐頁備忘稿</a:t>
            </a:r>
          </a:p>
        </p:txBody>
      </p:sp>
      <p:sp>
        <p:nvSpPr>
          <p:cNvPr id="7" name="Rounded Rectangle 6"/>
          <p:cNvSpPr/>
          <p:nvPr/>
        </p:nvSpPr>
        <p:spPr>
          <a:xfrm>
            <a:off x="8412480" y="1325880"/>
            <a:ext cx="2258568" cy="777240"/>
          </a:xfrm>
          <a:prstGeom prst="roundRect">
            <a:avLst>
              <a:gd name="adj" fmla="val 8000"/>
            </a:avLst>
          </a:prstGeom>
          <a:solidFill>
            <a:srgbClr val="234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1936" y="1426464"/>
            <a:ext cx="1810512" cy="457200"/>
          </a:xfrm>
          <a:prstGeom prst="rect">
            <a:avLst/>
          </a:prstGeom>
          <a:noFill/>
        </p:spPr>
        <p:txBody>
          <a:bodyPr wrap="square" lIns="13716" rIns="13716" tIns="9144" bIns="9144">
            <a:spAutoFit/>
          </a:bodyPr>
          <a:lstStyle/>
          <a:p>
            <a:pPr algn="ctr">
              <a:lnSpc>
                <a:spcPct val="112000"/>
              </a:lnSpc>
              <a:spcBef>
                <a:spcPts val="0"/>
              </a:spcBef>
              <a:spcAft>
                <a:spcPts val="200"/>
              </a:spcAft>
            </a:pPr>
            <a:r>
              <a:rPr sz="2600" b="1">
                <a:solidFill>
                  <a:srgbClr val="8ED3CF"/>
                </a:solidFill>
                <a:latin typeface="Noto Sans CJK TC"/>
                <a:ea typeface="Noto Sans CJK TC"/>
                <a:cs typeface="Noto Sans CJK TC"/>
              </a:rPr>
              <a:t>T</a:t>
            </a:r>
          </a:p>
        </p:txBody>
      </p:sp>
      <p:sp>
        <p:nvSpPr>
          <p:cNvPr id="9" name="Rounded Rectangle 8"/>
          <p:cNvSpPr/>
          <p:nvPr/>
        </p:nvSpPr>
        <p:spPr>
          <a:xfrm>
            <a:off x="8412480" y="2478024"/>
            <a:ext cx="2258568" cy="777240"/>
          </a:xfrm>
          <a:prstGeom prst="roundRect">
            <a:avLst>
              <a:gd name="adj" fmla="val 8000"/>
            </a:avLst>
          </a:prstGeom>
          <a:solidFill>
            <a:srgbClr val="234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1936" y="2578608"/>
            <a:ext cx="1810512" cy="457200"/>
          </a:xfrm>
          <a:prstGeom prst="rect">
            <a:avLst/>
          </a:prstGeom>
          <a:noFill/>
        </p:spPr>
        <p:txBody>
          <a:bodyPr wrap="square" lIns="13716" rIns="13716" tIns="9144" bIns="9144">
            <a:spAutoFit/>
          </a:bodyPr>
          <a:lstStyle/>
          <a:p>
            <a:pPr algn="ctr">
              <a:lnSpc>
                <a:spcPct val="112000"/>
              </a:lnSpc>
              <a:spcBef>
                <a:spcPts val="0"/>
              </a:spcBef>
              <a:spcAft>
                <a:spcPts val="200"/>
              </a:spcAft>
            </a:pPr>
            <a:r>
              <a:rPr sz="2600" b="1">
                <a:solidFill>
                  <a:srgbClr val="8ED3CF"/>
                </a:solidFill>
                <a:latin typeface="Noto Sans CJK TC"/>
                <a:ea typeface="Noto Sans CJK TC"/>
                <a:cs typeface="Noto Sans CJK TC"/>
              </a:rPr>
              <a:t>I</a:t>
            </a:r>
          </a:p>
        </p:txBody>
      </p:sp>
      <p:sp>
        <p:nvSpPr>
          <p:cNvPr id="11" name="Rounded Rectangle 10"/>
          <p:cNvSpPr/>
          <p:nvPr/>
        </p:nvSpPr>
        <p:spPr>
          <a:xfrm>
            <a:off x="8412480" y="3630168"/>
            <a:ext cx="2258568" cy="777240"/>
          </a:xfrm>
          <a:prstGeom prst="roundRect">
            <a:avLst>
              <a:gd name="adj" fmla="val 8000"/>
            </a:avLst>
          </a:prstGeom>
          <a:solidFill>
            <a:srgbClr val="234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1936" y="3730752"/>
            <a:ext cx="1810512" cy="457200"/>
          </a:xfrm>
          <a:prstGeom prst="rect">
            <a:avLst/>
          </a:prstGeom>
          <a:noFill/>
        </p:spPr>
        <p:txBody>
          <a:bodyPr wrap="square" lIns="13716" rIns="13716" tIns="9144" bIns="9144">
            <a:spAutoFit/>
          </a:bodyPr>
          <a:lstStyle/>
          <a:p>
            <a:pPr algn="ctr">
              <a:lnSpc>
                <a:spcPct val="112000"/>
              </a:lnSpc>
              <a:spcBef>
                <a:spcPts val="0"/>
              </a:spcBef>
              <a:spcAft>
                <a:spcPts val="200"/>
              </a:spcAft>
            </a:pPr>
            <a:r>
              <a:rPr sz="2600" b="1">
                <a:solidFill>
                  <a:srgbClr val="8ED3CF"/>
                </a:solidFill>
                <a:latin typeface="Noto Sans CJK TC"/>
                <a:ea typeface="Noto Sans CJK TC"/>
                <a:cs typeface="Noto Sans CJK TC"/>
              </a:rPr>
              <a:t>PC</a:t>
            </a:r>
          </a:p>
        </p:txBody>
      </p:sp>
      <p:cxnSp>
        <p:nvCxnSpPr>
          <p:cNvPr id="13" name="Connector 12"/>
          <p:cNvCxnSpPr/>
          <p:nvPr/>
        </p:nvCxnSpPr>
        <p:spPr>
          <a:xfrm>
            <a:off x="9537192" y="4498848"/>
            <a:ext cx="0" cy="356616"/>
          </a:xfrm>
          <a:prstGeom prst="line">
            <a:avLst/>
          </a:prstGeom>
          <a:ln w="25400">
            <a:solidFill>
              <a:srgbClr val="67C5C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973568" y="4864608"/>
            <a:ext cx="3154680" cy="795528"/>
          </a:xfrm>
          <a:prstGeom prst="roundRect">
            <a:avLst>
              <a:gd name="adj" fmla="val 8000"/>
            </a:avLst>
          </a:prstGeom>
          <a:solidFill>
            <a:srgbClr val="13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93024" y="5084064"/>
            <a:ext cx="2724912" cy="338328"/>
          </a:xfrm>
          <a:prstGeom prst="rect">
            <a:avLst/>
          </a:prstGeom>
          <a:noFill/>
        </p:spPr>
        <p:txBody>
          <a:bodyPr wrap="square" lIns="13716" rIns="13716" tIns="9144" bIns="9144">
            <a:spAutoFit/>
          </a:bodyPr>
          <a:lstStyle/>
          <a:p>
            <a:pPr algn="ctr">
              <a:lnSpc>
                <a:spcPct val="112000"/>
              </a:lnSpc>
              <a:spcBef>
                <a:spcPts val="0"/>
              </a:spcBef>
              <a:spcAft>
                <a:spcPts val="200"/>
              </a:spcAft>
            </a:pPr>
            <a:r>
              <a:rPr sz="1600" b="1">
                <a:solidFill>
                  <a:srgbClr val="FFFFFF"/>
                </a:solidFill>
                <a:latin typeface="Noto Sans CJK TC"/>
                <a:ea typeface="Noto Sans CJK TC"/>
                <a:cs typeface="Noto Sans CJK TC"/>
              </a:rPr>
              <a:t>QUERY → GALLERY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13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219456"/>
            <a:ext cx="10424160" cy="246888"/>
          </a:xfrm>
          <a:prstGeom prst="rect">
            <a:avLst/>
          </a:prstGeom>
          <a:noFill/>
        </p:spPr>
        <p:txBody>
          <a:bodyPr wrap="square" lIns="13716" rIns="13716" tIns="9144" bIns="9144">
            <a:spAutoFit/>
          </a:bodyPr>
          <a:lstStyle/>
          <a:p>
            <a:pPr algn="l">
              <a:lnSpc>
                <a:spcPct val="112000"/>
              </a:lnSpc>
              <a:spcBef>
                <a:spcPts val="0"/>
              </a:spcBef>
              <a:spcAft>
                <a:spcPts val="200"/>
              </a:spcAft>
            </a:pPr>
            <a:r>
              <a:rPr sz="1100" b="1">
                <a:solidFill>
                  <a:srgbClr val="137D88"/>
                </a:solidFill>
                <a:latin typeface="Noto Sans CJK TC"/>
                <a:ea typeface="Noto Sans CJK TC"/>
                <a:cs typeface="Noto Sans CJK TC"/>
              </a:rPr>
              <a:t>評估範圍</a:t>
            </a:r>
          </a:p>
        </p:txBody>
      </p:sp>
      <p:sp>
        <p:nvSpPr>
          <p:cNvPr id="4" name="TextBox 3"/>
          <p:cNvSpPr txBox="1"/>
          <p:nvPr/>
        </p:nvSpPr>
        <p:spPr>
          <a:xfrm>
            <a:off x="521207" y="630936"/>
            <a:ext cx="11119104" cy="923544"/>
          </a:xfrm>
          <a:prstGeom prst="rect">
            <a:avLst/>
          </a:prstGeom>
          <a:noFill/>
        </p:spPr>
        <p:txBody>
          <a:bodyPr wrap="square" lIns="13716" rIns="13716" tIns="9144" bIns="9144">
            <a:spAutoFit/>
          </a:bodyPr>
          <a:lstStyle/>
          <a:p>
            <a:pPr algn="l">
              <a:lnSpc>
                <a:spcPct val="112000"/>
              </a:lnSpc>
              <a:spcBef>
                <a:spcPts val="0"/>
              </a:spcBef>
              <a:spcAft>
                <a:spcPts val="200"/>
              </a:spcAft>
            </a:pPr>
            <a:r>
              <a:rPr sz="3100" b="1">
                <a:solidFill>
                  <a:srgbClr val="183247"/>
                </a:solidFill>
                <a:latin typeface="Noto Sans CJK TC"/>
                <a:ea typeface="Noto Sans CJK TC"/>
                <a:cs typeface="Noto Sans CJK TC"/>
              </a:rPr>
              <a:t>三種評估，回答三個不同問題</a:t>
            </a:r>
          </a:p>
        </p:txBody>
      </p:sp>
      <p:cxnSp>
        <p:nvCxnSpPr>
          <p:cNvPr id="5" name="Connector 4"/>
          <p:cNvCxnSpPr/>
          <p:nvPr/>
        </p:nvCxnSpPr>
        <p:spPr>
          <a:xfrm>
            <a:off x="548640" y="1481328"/>
            <a:ext cx="11091672" cy="0"/>
          </a:xfrm>
          <a:prstGeom prst="line">
            <a:avLst/>
          </a:prstGeom>
          <a:ln w="16510">
            <a:solidFill>
              <a:srgbClr val="D9E2E7"/>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48640" y="5916168"/>
            <a:ext cx="11064240" cy="384048"/>
          </a:xfrm>
          <a:prstGeom prst="rect">
            <a:avLst/>
          </a:prstGeom>
          <a:solidFill>
            <a:srgbClr val="E6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943600"/>
            <a:ext cx="10789920" cy="310896"/>
          </a:xfrm>
          <a:prstGeom prst="rect">
            <a:avLst/>
          </a:prstGeom>
          <a:noFill/>
        </p:spPr>
        <p:txBody>
          <a:bodyPr wrap="square" lIns="13716" rIns="13716" tIns="9144" bIns="9144">
            <a:spAutoFit/>
          </a:bodyPr>
          <a:lstStyle/>
          <a:p>
            <a:pPr algn="l">
              <a:lnSpc>
                <a:spcPct val="112000"/>
              </a:lnSpc>
              <a:spcBef>
                <a:spcPts val="0"/>
              </a:spcBef>
              <a:spcAft>
                <a:spcPts val="200"/>
              </a:spcAft>
            </a:pPr>
            <a:r>
              <a:rPr sz="1700" b="1">
                <a:solidFill>
                  <a:srgbClr val="137D88"/>
                </a:solidFill>
                <a:latin typeface="Noto Sans CJK TC"/>
                <a:ea typeface="Noto Sans CJK TC"/>
                <a:cs typeface="Noto Sans CJK TC"/>
              </a:rPr>
              <a:t>同UID命中率、room-context檢索、場景品質不能互相代替。</a:t>
            </a:r>
          </a:p>
        </p:txBody>
      </p:sp>
      <p:sp>
        <p:nvSpPr>
          <p:cNvPr id="8" name="TextBox 7">
            <a:hlinkClick r:id="rId2"/>
          </p:cNvPr>
          <p:cNvSpPr txBox="1"/>
          <p:nvPr/>
        </p:nvSpPr>
        <p:spPr>
          <a:xfrm>
            <a:off x="548640" y="6473952"/>
            <a:ext cx="10149840" cy="182880"/>
          </a:xfrm>
          <a:prstGeom prst="rect">
            <a:avLst/>
          </a:prstGeom>
          <a:noFill/>
        </p:spPr>
        <p:txBody>
          <a:bodyPr wrap="square" lIns="13716" rIns="13716" tIns="9144" bIns="9144">
            <a:spAutoFit/>
          </a:bodyPr>
          <a:lstStyle/>
          <a:p>
            <a:pPr algn="l">
              <a:lnSpc>
                <a:spcPct val="112000"/>
              </a:lnSpc>
              <a:spcBef>
                <a:spcPts val="0"/>
              </a:spcBef>
              <a:spcAft>
                <a:spcPts val="200"/>
              </a:spcAft>
            </a:pPr>
            <a:r>
              <a:rPr sz="819" b="0">
                <a:solidFill>
                  <a:srgbClr val="657A88"/>
                </a:solidFill>
                <a:latin typeface="Noto Sans CJK TC"/>
                <a:ea typeface="Noto Sans CJK TC"/>
                <a:cs typeface="Noto Sans CJK TC"/>
              </a:rPr>
              <a:t>來源：Notion §1、§9；[最終發布版](output/validation/corpus_guard_20260908/notion_table1_stage2_published.md:7)</a:t>
            </a:r>
          </a:p>
        </p:txBody>
      </p:sp>
      <p:sp>
        <p:nvSpPr>
          <p:cNvPr id="9" name="TextBox 8"/>
          <p:cNvSpPr txBox="1"/>
          <p:nvPr/>
        </p:nvSpPr>
        <p:spPr>
          <a:xfrm>
            <a:off x="10771632" y="6446520"/>
            <a:ext cx="850392" cy="237744"/>
          </a:xfrm>
          <a:prstGeom prst="rect">
            <a:avLst/>
          </a:prstGeom>
          <a:noFill/>
        </p:spPr>
        <p:txBody>
          <a:bodyPr wrap="square" lIns="13716" rIns="13716" tIns="9144" bIns="9144">
            <a:spAutoFit/>
          </a:bodyPr>
          <a:lstStyle/>
          <a:p>
            <a:pPr algn="r">
              <a:lnSpc>
                <a:spcPct val="112000"/>
              </a:lnSpc>
              <a:spcBef>
                <a:spcPts val="0"/>
              </a:spcBef>
              <a:spcAft>
                <a:spcPts val="200"/>
              </a:spcAft>
            </a:pPr>
            <a:r>
              <a:rPr sz="1100" b="0">
                <a:solidFill>
                  <a:srgbClr val="657A88"/>
                </a:solidFill>
                <a:latin typeface="Noto Sans CJK TC"/>
                <a:ea typeface="Noto Sans CJK TC"/>
                <a:cs typeface="Noto Sans CJK TC"/>
              </a:rPr>
              <a:t>02 / 10</a:t>
            </a:r>
          </a:p>
        </p:txBody>
      </p:sp>
      <p:sp>
        <p:nvSpPr>
          <p:cNvPr id="10" name="Rectangle 9"/>
          <p:cNvSpPr/>
          <p:nvPr/>
        </p:nvSpPr>
        <p:spPr>
          <a:xfrm>
            <a:off x="548640" y="1691640"/>
            <a:ext cx="4255476"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746504"/>
            <a:ext cx="4072596"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FFFFFF"/>
                </a:solidFill>
                <a:latin typeface="Noto Sans CJK TC"/>
                <a:ea typeface="Noto Sans CJK TC"/>
                <a:cs typeface="Noto Sans CJK TC"/>
              </a:rPr>
              <a:t>評估</a:t>
            </a:r>
          </a:p>
        </p:txBody>
      </p:sp>
      <p:sp>
        <p:nvSpPr>
          <p:cNvPr id="12" name="Rectangle 11"/>
          <p:cNvSpPr/>
          <p:nvPr/>
        </p:nvSpPr>
        <p:spPr>
          <a:xfrm>
            <a:off x="4804116" y="1691640"/>
            <a:ext cx="3404381"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95556" y="1746504"/>
            <a:ext cx="3221501"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FFFFFF"/>
                </a:solidFill>
                <a:latin typeface="Noto Sans CJK TC"/>
                <a:ea typeface="Noto Sans CJK TC"/>
                <a:cs typeface="Noto Sans CJK TC"/>
              </a:rPr>
              <a:t>問題</a:t>
            </a:r>
          </a:p>
        </p:txBody>
      </p:sp>
      <p:sp>
        <p:nvSpPr>
          <p:cNvPr id="14" name="Rectangle 13"/>
          <p:cNvSpPr/>
          <p:nvPr/>
        </p:nvSpPr>
        <p:spPr>
          <a:xfrm>
            <a:off x="8208498" y="1691640"/>
            <a:ext cx="3404381"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9938" y="1746504"/>
            <a:ext cx="3221501"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FFFFFF"/>
                </a:solidFill>
                <a:latin typeface="Noto Sans CJK TC"/>
                <a:ea typeface="Noto Sans CJK TC"/>
                <a:cs typeface="Noto Sans CJK TC"/>
              </a:rPr>
              <a:t>主要證據</a:t>
            </a:r>
          </a:p>
        </p:txBody>
      </p:sp>
      <p:sp>
        <p:nvSpPr>
          <p:cNvPr id="16" name="Rectangle 15"/>
          <p:cNvSpPr/>
          <p:nvPr/>
        </p:nvSpPr>
        <p:spPr>
          <a:xfrm>
            <a:off x="548640" y="2185416"/>
            <a:ext cx="4255476" cy="9540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240280"/>
            <a:ext cx="4072596" cy="86258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183247"/>
                </a:solidFill>
                <a:latin typeface="Noto Sans CJK TC"/>
                <a:ea typeface="Noto Sans CJK TC"/>
                <a:cs typeface="Noto Sans CJK TC"/>
              </a:rPr>
              <a:t>Objaverse</a:t>
            </a:r>
          </a:p>
        </p:txBody>
      </p:sp>
      <p:sp>
        <p:nvSpPr>
          <p:cNvPr id="18" name="Rectangle 17"/>
          <p:cNvSpPr/>
          <p:nvPr/>
        </p:nvSpPr>
        <p:spPr>
          <a:xfrm>
            <a:off x="4804116" y="2185416"/>
            <a:ext cx="3404381" cy="9540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95556" y="2240280"/>
            <a:ext cx="3221501" cy="86258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能否找回同一UID？</a:t>
            </a:r>
          </a:p>
        </p:txBody>
      </p:sp>
      <p:sp>
        <p:nvSpPr>
          <p:cNvPr id="20" name="Rectangle 19"/>
          <p:cNvSpPr/>
          <p:nvPr/>
        </p:nvSpPr>
        <p:spPr>
          <a:xfrm>
            <a:off x="8208498" y="2185416"/>
            <a:ext cx="3404381" cy="9540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9938" y="2240280"/>
            <a:ext cx="3221501" cy="86258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R@1／R@5＋逐query rank</a:t>
            </a:r>
          </a:p>
        </p:txBody>
      </p:sp>
      <p:sp>
        <p:nvSpPr>
          <p:cNvPr id="22" name="Rectangle 21"/>
          <p:cNvSpPr/>
          <p:nvPr/>
        </p:nvSpPr>
        <p:spPr>
          <a:xfrm>
            <a:off x="548640" y="3139440"/>
            <a:ext cx="4255476" cy="954023"/>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194304"/>
            <a:ext cx="4072596" cy="86258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183247"/>
                </a:solidFill>
                <a:latin typeface="Noto Sans CJK TC"/>
                <a:ea typeface="Noto Sans CJK TC"/>
                <a:cs typeface="Noto Sans CJK TC"/>
              </a:rPr>
              <a:t>ProcTHOR</a:t>
            </a:r>
          </a:p>
        </p:txBody>
      </p:sp>
      <p:sp>
        <p:nvSpPr>
          <p:cNvPr id="24" name="Rectangle 23"/>
          <p:cNvSpPr/>
          <p:nvPr/>
        </p:nvSpPr>
        <p:spPr>
          <a:xfrm>
            <a:off x="4804116" y="3139440"/>
            <a:ext cx="3404381" cy="954023"/>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95556" y="3194304"/>
            <a:ext cx="3221501" cy="86258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Room context帶來什麼變化？</a:t>
            </a:r>
          </a:p>
        </p:txBody>
      </p:sp>
      <p:sp>
        <p:nvSpPr>
          <p:cNvPr id="26" name="Rectangle 25"/>
          <p:cNvSpPr/>
          <p:nvPr/>
        </p:nvSpPr>
        <p:spPr>
          <a:xfrm>
            <a:off x="8208498" y="3139440"/>
            <a:ext cx="3404381" cy="954023"/>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9938" y="3194304"/>
            <a:ext cx="3221501" cy="86258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S1／S2-off／S2-on對照</a:t>
            </a:r>
          </a:p>
        </p:txBody>
      </p:sp>
      <p:sp>
        <p:nvSpPr>
          <p:cNvPr id="28" name="Rectangle 27"/>
          <p:cNvSpPr/>
          <p:nvPr/>
        </p:nvSpPr>
        <p:spPr>
          <a:xfrm>
            <a:off x="548640" y="4093464"/>
            <a:ext cx="4255476" cy="9540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148327"/>
            <a:ext cx="4072596" cy="86258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183247"/>
                </a:solidFill>
                <a:latin typeface="Noto Sans CJK TC"/>
                <a:ea typeface="Noto Sans CJK TC"/>
                <a:cs typeface="Noto Sans CJK TC"/>
              </a:rPr>
              <a:t>完整場景</a:t>
            </a:r>
          </a:p>
        </p:txBody>
      </p:sp>
      <p:sp>
        <p:nvSpPr>
          <p:cNvPr id="30" name="Rectangle 29"/>
          <p:cNvSpPr/>
          <p:nvPr/>
        </p:nvSpPr>
        <p:spPr>
          <a:xfrm>
            <a:off x="4804116" y="4093464"/>
            <a:ext cx="3404381" cy="9540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95556" y="4148327"/>
            <a:ext cx="3221501" cy="86258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風格與幾何是否合理？</a:t>
            </a:r>
          </a:p>
        </p:txBody>
      </p:sp>
      <p:sp>
        <p:nvSpPr>
          <p:cNvPr id="32" name="Rectangle 31"/>
          <p:cNvSpPr/>
          <p:nvPr/>
        </p:nvSpPr>
        <p:spPr>
          <a:xfrm>
            <a:off x="8208498" y="4093464"/>
            <a:ext cx="3404381" cy="9540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99938" y="4148327"/>
            <a:ext cx="3221501" cy="86258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composition＋render＋judge</a:t>
            </a:r>
          </a:p>
        </p:txBody>
      </p:sp>
      <p:sp>
        <p:nvSpPr>
          <p:cNvPr id="34" name="TextBox 33"/>
          <p:cNvSpPr txBox="1"/>
          <p:nvPr/>
        </p:nvSpPr>
        <p:spPr>
          <a:xfrm>
            <a:off x="640080" y="5212080"/>
            <a:ext cx="182880" cy="365760"/>
          </a:xfrm>
          <a:prstGeom prst="rect">
            <a:avLst/>
          </a:prstGeom>
          <a:noFill/>
        </p:spPr>
        <p:txBody>
          <a:bodyPr wrap="square" lIns="13716" rIns="13716" tIns="9144" bIns="9144">
            <a:spAutoFit/>
          </a:bodyPr>
          <a:lstStyle/>
          <a:p>
            <a:pPr algn="l">
              <a:lnSpc>
                <a:spcPct val="112000"/>
              </a:lnSpc>
              <a:spcBef>
                <a:spcPts val="0"/>
              </a:spcBef>
              <a:spcAft>
                <a:spcPts val="200"/>
              </a:spcAft>
            </a:pPr>
            <a:r>
              <a:rPr sz="1400" b="1">
                <a:solidFill>
                  <a:srgbClr val="137D88"/>
                </a:solidFill>
                <a:latin typeface="Noto Sans CJK TC"/>
                <a:ea typeface="Noto Sans CJK TC"/>
                <a:cs typeface="Noto Sans CJK TC"/>
              </a:rPr>
              <a:t>•</a:t>
            </a:r>
          </a:p>
        </p:txBody>
      </p:sp>
      <p:sp>
        <p:nvSpPr>
          <p:cNvPr id="35" name="TextBox 34"/>
          <p:cNvSpPr txBox="1"/>
          <p:nvPr/>
        </p:nvSpPr>
        <p:spPr>
          <a:xfrm>
            <a:off x="914400" y="5212080"/>
            <a:ext cx="10607040" cy="228600"/>
          </a:xfrm>
          <a:prstGeom prst="rect">
            <a:avLst/>
          </a:prstGeom>
          <a:noFill/>
        </p:spPr>
        <p:txBody>
          <a:bodyPr wrap="square" lIns="13716" rIns="13716" tIns="9144" bIns="9144">
            <a:spAutoFit/>
          </a:bodyPr>
          <a:lstStyle/>
          <a:p>
            <a:pPr algn="l">
              <a:lnSpc>
                <a:spcPct val="112000"/>
              </a:lnSpc>
              <a:spcBef>
                <a:spcPts val="0"/>
              </a:spcBef>
              <a:spcAft>
                <a:spcPts val="200"/>
              </a:spcAft>
            </a:pPr>
            <a:r>
              <a:rPr sz="1400" b="0">
                <a:solidFill>
                  <a:srgbClr val="183247"/>
                </a:solidFill>
                <a:latin typeface="Noto Sans CJK TC"/>
                <a:ea typeface="Noto Sans CJK TC"/>
                <a:cs typeface="Noto Sans CJK TC"/>
              </a:rPr>
              <a:t>Objaverse：找回同一資產</a:t>
            </a:r>
          </a:p>
        </p:txBody>
      </p:sp>
      <p:sp>
        <p:nvSpPr>
          <p:cNvPr id="36" name="TextBox 35"/>
          <p:cNvSpPr txBox="1"/>
          <p:nvPr/>
        </p:nvSpPr>
        <p:spPr>
          <a:xfrm>
            <a:off x="640080" y="5495544"/>
            <a:ext cx="182880" cy="365760"/>
          </a:xfrm>
          <a:prstGeom prst="rect">
            <a:avLst/>
          </a:prstGeom>
          <a:noFill/>
        </p:spPr>
        <p:txBody>
          <a:bodyPr wrap="square" lIns="13716" rIns="13716" tIns="9144" bIns="9144">
            <a:spAutoFit/>
          </a:bodyPr>
          <a:lstStyle/>
          <a:p>
            <a:pPr algn="l">
              <a:lnSpc>
                <a:spcPct val="112000"/>
              </a:lnSpc>
              <a:spcBef>
                <a:spcPts val="0"/>
              </a:spcBef>
              <a:spcAft>
                <a:spcPts val="200"/>
              </a:spcAft>
            </a:pPr>
            <a:r>
              <a:rPr sz="1400" b="1">
                <a:solidFill>
                  <a:srgbClr val="137D88"/>
                </a:solidFill>
                <a:latin typeface="Noto Sans CJK TC"/>
                <a:ea typeface="Noto Sans CJK TC"/>
                <a:cs typeface="Noto Sans CJK TC"/>
              </a:rPr>
              <a:t>•</a:t>
            </a:r>
          </a:p>
        </p:txBody>
      </p:sp>
      <p:sp>
        <p:nvSpPr>
          <p:cNvPr id="37" name="TextBox 36"/>
          <p:cNvSpPr txBox="1"/>
          <p:nvPr/>
        </p:nvSpPr>
        <p:spPr>
          <a:xfrm>
            <a:off x="914400" y="5495544"/>
            <a:ext cx="10607040" cy="228600"/>
          </a:xfrm>
          <a:prstGeom prst="rect">
            <a:avLst/>
          </a:prstGeom>
          <a:noFill/>
        </p:spPr>
        <p:txBody>
          <a:bodyPr wrap="square" lIns="13716" rIns="13716" tIns="9144" bIns="9144">
            <a:spAutoFit/>
          </a:bodyPr>
          <a:lstStyle/>
          <a:p>
            <a:pPr algn="l">
              <a:lnSpc>
                <a:spcPct val="112000"/>
              </a:lnSpc>
              <a:spcBef>
                <a:spcPts val="0"/>
              </a:spcBef>
              <a:spcAft>
                <a:spcPts val="200"/>
              </a:spcAft>
            </a:pPr>
            <a:r>
              <a:rPr sz="1400" b="0">
                <a:solidFill>
                  <a:srgbClr val="183247"/>
                </a:solidFill>
                <a:latin typeface="Noto Sans CJK TC"/>
                <a:ea typeface="Noto Sans CJK TC"/>
                <a:cs typeface="Noto Sans CJK TC"/>
              </a:rPr>
              <a:t>ProcTHOR：比較S1／S2-off／S2-on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13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219456"/>
            <a:ext cx="10424160" cy="246888"/>
          </a:xfrm>
          <a:prstGeom prst="rect">
            <a:avLst/>
          </a:prstGeom>
          <a:noFill/>
        </p:spPr>
        <p:txBody>
          <a:bodyPr wrap="square" lIns="13716" rIns="13716" tIns="9144" bIns="9144">
            <a:spAutoFit/>
          </a:bodyPr>
          <a:lstStyle/>
          <a:p>
            <a:pPr algn="l">
              <a:lnSpc>
                <a:spcPct val="112000"/>
              </a:lnSpc>
              <a:spcBef>
                <a:spcPts val="0"/>
              </a:spcBef>
              <a:spcAft>
                <a:spcPts val="200"/>
              </a:spcAft>
            </a:pPr>
            <a:r>
              <a:rPr sz="1100" b="1">
                <a:solidFill>
                  <a:srgbClr val="137D88"/>
                </a:solidFill>
                <a:latin typeface="Noto Sans CJK TC"/>
                <a:ea typeface="Noto Sans CJK TC"/>
                <a:cs typeface="Noto Sans CJK TC"/>
              </a:rPr>
              <a:t>新CUSTOM設計</a:t>
            </a:r>
          </a:p>
        </p:txBody>
      </p:sp>
      <p:sp>
        <p:nvSpPr>
          <p:cNvPr id="4" name="TextBox 3"/>
          <p:cNvSpPr txBox="1"/>
          <p:nvPr/>
        </p:nvSpPr>
        <p:spPr>
          <a:xfrm>
            <a:off x="521207" y="630936"/>
            <a:ext cx="11119104" cy="923544"/>
          </a:xfrm>
          <a:prstGeom prst="rect">
            <a:avLst/>
          </a:prstGeom>
          <a:noFill/>
        </p:spPr>
        <p:txBody>
          <a:bodyPr wrap="square" lIns="13716" rIns="13716" tIns="9144" bIns="9144">
            <a:spAutoFit/>
          </a:bodyPr>
          <a:lstStyle/>
          <a:p>
            <a:pPr algn="l">
              <a:lnSpc>
                <a:spcPct val="112000"/>
              </a:lnSpc>
              <a:spcBef>
                <a:spcPts val="0"/>
              </a:spcBef>
              <a:spcAft>
                <a:spcPts val="200"/>
              </a:spcAft>
            </a:pPr>
            <a:r>
              <a:rPr sz="3100" b="1">
                <a:solidFill>
                  <a:srgbClr val="183247"/>
                </a:solidFill>
                <a:latin typeface="Noto Sans CJK TC"/>
                <a:ea typeface="Noto Sans CJK TC"/>
                <a:cs typeface="Noto Sans CJK TC"/>
              </a:rPr>
              <a:t>2觀測 × 3模型 × 7模態＝42組</a:t>
            </a:r>
          </a:p>
        </p:txBody>
      </p:sp>
      <p:cxnSp>
        <p:nvCxnSpPr>
          <p:cNvPr id="5" name="Connector 4"/>
          <p:cNvCxnSpPr/>
          <p:nvPr/>
        </p:nvCxnSpPr>
        <p:spPr>
          <a:xfrm>
            <a:off x="548640" y="1481328"/>
            <a:ext cx="11091672" cy="0"/>
          </a:xfrm>
          <a:prstGeom prst="line">
            <a:avLst/>
          </a:prstGeom>
          <a:ln w="16510">
            <a:solidFill>
              <a:srgbClr val="D9E2E7"/>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48640" y="5916168"/>
            <a:ext cx="11064240" cy="384048"/>
          </a:xfrm>
          <a:prstGeom prst="rect">
            <a:avLst/>
          </a:prstGeom>
          <a:solidFill>
            <a:srgbClr val="E6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943600"/>
            <a:ext cx="10789920" cy="310896"/>
          </a:xfrm>
          <a:prstGeom prst="rect">
            <a:avLst/>
          </a:prstGeom>
          <a:noFill/>
        </p:spPr>
        <p:txBody>
          <a:bodyPr wrap="square" lIns="13716" rIns="13716" tIns="9144" bIns="9144">
            <a:spAutoFit/>
          </a:bodyPr>
          <a:lstStyle/>
          <a:p>
            <a:pPr algn="l">
              <a:lnSpc>
                <a:spcPct val="112000"/>
              </a:lnSpc>
              <a:spcBef>
                <a:spcPts val="0"/>
              </a:spcBef>
              <a:spcAft>
                <a:spcPts val="200"/>
              </a:spcAft>
            </a:pPr>
            <a:r>
              <a:rPr sz="1700" b="1">
                <a:solidFill>
                  <a:srgbClr val="137D88"/>
                </a:solidFill>
                <a:latin typeface="Noto Sans CJK TC"/>
                <a:ea typeface="Noto Sans CJK TC"/>
                <a:cs typeface="Noto Sans CJK TC"/>
              </a:rPr>
              <a:t>同一UID清單與順序；每組N個query，共42×N筆紀錄。</a:t>
            </a:r>
          </a:p>
        </p:txBody>
      </p:sp>
      <p:sp>
        <p:nvSpPr>
          <p:cNvPr id="8" name="TextBox 7">
            <a:hlinkClick r:id="rId2"/>
          </p:cNvPr>
          <p:cNvSpPr txBox="1"/>
          <p:nvPr/>
        </p:nvSpPr>
        <p:spPr>
          <a:xfrm>
            <a:off x="548640" y="6473952"/>
            <a:ext cx="10149840" cy="182880"/>
          </a:xfrm>
          <a:prstGeom prst="rect">
            <a:avLst/>
          </a:prstGeom>
          <a:noFill/>
        </p:spPr>
        <p:txBody>
          <a:bodyPr wrap="square" lIns="13716" rIns="13716" tIns="9144" bIns="9144">
            <a:spAutoFit/>
          </a:bodyPr>
          <a:lstStyle/>
          <a:p>
            <a:pPr algn="l">
              <a:lnSpc>
                <a:spcPct val="112000"/>
              </a:lnSpc>
              <a:spcBef>
                <a:spcPts val="0"/>
              </a:spcBef>
              <a:spcAft>
                <a:spcPts val="200"/>
              </a:spcAft>
            </a:pPr>
            <a:r>
              <a:rPr sz="819" b="0">
                <a:solidFill>
                  <a:srgbClr val="657A88"/>
                </a:solidFill>
                <a:latin typeface="Noto Sans CJK TC"/>
                <a:ea typeface="Noto Sans CJK TC"/>
                <a:cs typeface="Noto Sans CJK TC"/>
              </a:rPr>
              <a:t>來源：Notion §2.1–2.3、§5.5；[最終發布版](output/validation/corpus_guard_20260908/notion_table1_stage2_published.md:36)</a:t>
            </a:r>
          </a:p>
        </p:txBody>
      </p:sp>
      <p:sp>
        <p:nvSpPr>
          <p:cNvPr id="9" name="TextBox 8"/>
          <p:cNvSpPr txBox="1"/>
          <p:nvPr/>
        </p:nvSpPr>
        <p:spPr>
          <a:xfrm>
            <a:off x="10771632" y="6446520"/>
            <a:ext cx="850392" cy="237744"/>
          </a:xfrm>
          <a:prstGeom prst="rect">
            <a:avLst/>
          </a:prstGeom>
          <a:noFill/>
        </p:spPr>
        <p:txBody>
          <a:bodyPr wrap="square" lIns="13716" rIns="13716" tIns="9144" bIns="9144">
            <a:spAutoFit/>
          </a:bodyPr>
          <a:lstStyle/>
          <a:p>
            <a:pPr algn="r">
              <a:lnSpc>
                <a:spcPct val="112000"/>
              </a:lnSpc>
              <a:spcBef>
                <a:spcPts val="0"/>
              </a:spcBef>
              <a:spcAft>
                <a:spcPts val="200"/>
              </a:spcAft>
            </a:pPr>
            <a:r>
              <a:rPr sz="1100" b="0">
                <a:solidFill>
                  <a:srgbClr val="657A88"/>
                </a:solidFill>
                <a:latin typeface="Noto Sans CJK TC"/>
                <a:ea typeface="Noto Sans CJK TC"/>
                <a:cs typeface="Noto Sans CJK TC"/>
              </a:rPr>
              <a:t>03 / 10</a:t>
            </a:r>
          </a:p>
        </p:txBody>
      </p:sp>
      <p:sp>
        <p:nvSpPr>
          <p:cNvPr id="10" name="TextBox 9"/>
          <p:cNvSpPr txBox="1"/>
          <p:nvPr/>
        </p:nvSpPr>
        <p:spPr>
          <a:xfrm>
            <a:off x="649224" y="1691640"/>
            <a:ext cx="10698480" cy="365760"/>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ULIP2＋本地 MEAN  /  STAGE 1  /  STAGE 2 — LAYOUT OFF</a:t>
            </a:r>
          </a:p>
        </p:txBody>
      </p:sp>
      <p:sp>
        <p:nvSpPr>
          <p:cNvPr id="11" name="Rectangle 10"/>
          <p:cNvSpPr/>
          <p:nvPr/>
        </p:nvSpPr>
        <p:spPr>
          <a:xfrm>
            <a:off x="548640" y="2185416"/>
            <a:ext cx="4255476"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240280"/>
            <a:ext cx="4072596"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1">
                <a:solidFill>
                  <a:srgbClr val="FFFFFF"/>
                </a:solidFill>
                <a:latin typeface="Noto Sans CJK TC"/>
                <a:ea typeface="Noto Sans CJK TC"/>
                <a:cs typeface="Noto Sans CJK TC"/>
              </a:rPr>
              <a:t>因素</a:t>
            </a:r>
          </a:p>
        </p:txBody>
      </p:sp>
      <p:sp>
        <p:nvSpPr>
          <p:cNvPr id="13" name="Rectangle 12"/>
          <p:cNvSpPr/>
          <p:nvPr/>
        </p:nvSpPr>
        <p:spPr>
          <a:xfrm>
            <a:off x="4804116" y="2185416"/>
            <a:ext cx="3404381"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95556" y="2240280"/>
            <a:ext cx="3221501"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1">
                <a:solidFill>
                  <a:srgbClr val="FFFFFF"/>
                </a:solidFill>
                <a:latin typeface="Noto Sans CJK TC"/>
                <a:ea typeface="Noto Sans CJK TC"/>
                <a:cs typeface="Noto Sans CJK TC"/>
              </a:rPr>
              <a:t>same_observation</a:t>
            </a:r>
          </a:p>
        </p:txBody>
      </p:sp>
      <p:sp>
        <p:nvSpPr>
          <p:cNvPr id="15" name="Rectangle 14"/>
          <p:cNvSpPr/>
          <p:nvPr/>
        </p:nvSpPr>
        <p:spPr>
          <a:xfrm>
            <a:off x="8208498" y="2185416"/>
            <a:ext cx="3404381"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9938" y="2240280"/>
            <a:ext cx="3221501"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1">
                <a:solidFill>
                  <a:srgbClr val="FFFFFF"/>
                </a:solidFill>
                <a:latin typeface="Noto Sans CJK TC"/>
                <a:ea typeface="Noto Sans CJK TC"/>
                <a:cs typeface="Noto Sans CJK TC"/>
              </a:rPr>
              <a:t>different_observations</a:t>
            </a:r>
          </a:p>
        </p:txBody>
      </p:sp>
      <p:sp>
        <p:nvSpPr>
          <p:cNvPr id="17" name="Rectangle 16"/>
          <p:cNvSpPr/>
          <p:nvPr/>
        </p:nvSpPr>
        <p:spPr>
          <a:xfrm>
            <a:off x="548640" y="2679192"/>
            <a:ext cx="4255476" cy="58750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734056"/>
            <a:ext cx="4072596" cy="496062"/>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1">
                <a:solidFill>
                  <a:srgbClr val="183247"/>
                </a:solidFill>
                <a:latin typeface="Noto Sans CJK TC"/>
                <a:ea typeface="Noto Sans CJK TC"/>
                <a:cs typeface="Noto Sans CJK TC"/>
              </a:rPr>
              <a:t>Query文字</a:t>
            </a:r>
          </a:p>
        </p:txBody>
      </p:sp>
      <p:sp>
        <p:nvSpPr>
          <p:cNvPr id="19" name="Rectangle 18"/>
          <p:cNvSpPr/>
          <p:nvPr/>
        </p:nvSpPr>
        <p:spPr>
          <a:xfrm>
            <a:off x="4804116" y="2679192"/>
            <a:ext cx="3404381" cy="58750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95556" y="2734056"/>
            <a:ext cx="3221501" cy="496062"/>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canonical</a:t>
            </a:r>
          </a:p>
        </p:txBody>
      </p:sp>
      <p:sp>
        <p:nvSpPr>
          <p:cNvPr id="21" name="Rectangle 20"/>
          <p:cNvSpPr/>
          <p:nvPr/>
        </p:nvSpPr>
        <p:spPr>
          <a:xfrm>
            <a:off x="8208498" y="2679192"/>
            <a:ext cx="3404381" cy="58750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9938" y="2734056"/>
            <a:ext cx="3221501" cy="496062"/>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同UID外部不同描述</a:t>
            </a:r>
          </a:p>
        </p:txBody>
      </p:sp>
      <p:sp>
        <p:nvSpPr>
          <p:cNvPr id="23" name="Rectangle 22"/>
          <p:cNvSpPr/>
          <p:nvPr/>
        </p:nvSpPr>
        <p:spPr>
          <a:xfrm>
            <a:off x="548640" y="3266694"/>
            <a:ext cx="4255476" cy="587502"/>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321558"/>
            <a:ext cx="4072596" cy="496062"/>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1">
                <a:solidFill>
                  <a:srgbClr val="183247"/>
                </a:solidFill>
                <a:latin typeface="Noto Sans CJK TC"/>
                <a:ea typeface="Noto Sans CJK TC"/>
                <a:cs typeface="Noto Sans CJK TC"/>
              </a:rPr>
              <a:t>Query圖片</a:t>
            </a:r>
          </a:p>
        </p:txBody>
      </p:sp>
      <p:sp>
        <p:nvSpPr>
          <p:cNvPr id="25" name="Rectangle 24"/>
          <p:cNvSpPr/>
          <p:nvPr/>
        </p:nvSpPr>
        <p:spPr>
          <a:xfrm>
            <a:off x="4804116" y="3266694"/>
            <a:ext cx="3404381" cy="587502"/>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95556" y="3321558"/>
            <a:ext cx="3221501" cy="496062"/>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全部views平均</a:t>
            </a:r>
          </a:p>
        </p:txBody>
      </p:sp>
      <p:sp>
        <p:nvSpPr>
          <p:cNvPr id="27" name="Rectangle 26"/>
          <p:cNvSpPr/>
          <p:nvPr/>
        </p:nvSpPr>
        <p:spPr>
          <a:xfrm>
            <a:off x="8208498" y="3266694"/>
            <a:ext cx="3404381" cy="587502"/>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99938" y="3321558"/>
            <a:ext cx="3221501" cy="496062"/>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UID固定一個view</a:t>
            </a:r>
          </a:p>
        </p:txBody>
      </p:sp>
      <p:sp>
        <p:nvSpPr>
          <p:cNvPr id="29" name="Rectangle 28"/>
          <p:cNvSpPr/>
          <p:nvPr/>
        </p:nvSpPr>
        <p:spPr>
          <a:xfrm>
            <a:off x="548640" y="3854196"/>
            <a:ext cx="4255476" cy="58750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909059"/>
            <a:ext cx="4072596" cy="496062"/>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1">
                <a:solidFill>
                  <a:srgbClr val="183247"/>
                </a:solidFill>
                <a:latin typeface="Noto Sans CJK TC"/>
                <a:ea typeface="Noto Sans CJK TC"/>
                <a:cs typeface="Noto Sans CJK TC"/>
              </a:rPr>
              <a:t>Gallery圖片</a:t>
            </a:r>
          </a:p>
        </p:txBody>
      </p:sp>
      <p:sp>
        <p:nvSpPr>
          <p:cNvPr id="31" name="Rectangle 30"/>
          <p:cNvSpPr/>
          <p:nvPr/>
        </p:nvSpPr>
        <p:spPr>
          <a:xfrm>
            <a:off x="4804116" y="3854196"/>
            <a:ext cx="3404381" cy="58750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95556" y="3909059"/>
            <a:ext cx="3221501" cy="496062"/>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全部views平均</a:t>
            </a:r>
          </a:p>
        </p:txBody>
      </p:sp>
      <p:sp>
        <p:nvSpPr>
          <p:cNvPr id="33" name="Rectangle 32"/>
          <p:cNvSpPr/>
          <p:nvPr/>
        </p:nvSpPr>
        <p:spPr>
          <a:xfrm>
            <a:off x="8208498" y="3854196"/>
            <a:ext cx="3404381" cy="58750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99938" y="3909059"/>
            <a:ext cx="3221501" cy="496062"/>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排除該UID保留view</a:t>
            </a:r>
          </a:p>
        </p:txBody>
      </p:sp>
      <p:sp>
        <p:nvSpPr>
          <p:cNvPr id="35" name="Rectangle 34"/>
          <p:cNvSpPr/>
          <p:nvPr/>
        </p:nvSpPr>
        <p:spPr>
          <a:xfrm>
            <a:off x="548640" y="4441698"/>
            <a:ext cx="4255476" cy="587502"/>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496562"/>
            <a:ext cx="4072596" cy="496062"/>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1">
                <a:solidFill>
                  <a:srgbClr val="183247"/>
                </a:solidFill>
                <a:latin typeface="Noto Sans CJK TC"/>
                <a:ea typeface="Noto Sans CJK TC"/>
                <a:cs typeface="Noto Sans CJK TC"/>
              </a:rPr>
              <a:t>Query點雲</a:t>
            </a:r>
          </a:p>
        </p:txBody>
      </p:sp>
      <p:sp>
        <p:nvSpPr>
          <p:cNvPr id="37" name="Rectangle 36"/>
          <p:cNvSpPr/>
          <p:nvPr/>
        </p:nvSpPr>
        <p:spPr>
          <a:xfrm>
            <a:off x="4804116" y="4441698"/>
            <a:ext cx="3404381" cy="587502"/>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95556" y="4496562"/>
            <a:ext cx="3221501" cy="496062"/>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canonical</a:t>
            </a:r>
          </a:p>
        </p:txBody>
      </p:sp>
      <p:sp>
        <p:nvSpPr>
          <p:cNvPr id="39" name="Rectangle 38"/>
          <p:cNvSpPr/>
          <p:nvPr/>
        </p:nvSpPr>
        <p:spPr>
          <a:xfrm>
            <a:off x="8208498" y="4441698"/>
            <a:ext cx="3404381" cy="587502"/>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99938" y="4496562"/>
            <a:ext cx="3221501" cy="496062"/>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同mesh重採樣10,000點</a:t>
            </a:r>
          </a:p>
        </p:txBody>
      </p:sp>
      <p:sp>
        <p:nvSpPr>
          <p:cNvPr id="41" name="TextBox 40"/>
          <p:cNvSpPr txBox="1"/>
          <p:nvPr/>
        </p:nvSpPr>
        <p:spPr>
          <a:xfrm>
            <a:off x="685800" y="5266944"/>
            <a:ext cx="10698480" cy="365760"/>
          </a:xfrm>
          <a:prstGeom prst="rect">
            <a:avLst/>
          </a:prstGeom>
          <a:noFill/>
        </p:spPr>
        <p:txBody>
          <a:bodyPr wrap="square" lIns="13716" rIns="13716" tIns="9144" bIns="9144">
            <a:spAutoFit/>
          </a:bodyPr>
          <a:lstStyle/>
          <a:p>
            <a:pPr algn="l">
              <a:lnSpc>
                <a:spcPct val="112000"/>
              </a:lnSpc>
              <a:spcBef>
                <a:spcPts val="0"/>
              </a:spcBef>
              <a:spcAft>
                <a:spcPts val="200"/>
              </a:spcAft>
            </a:pPr>
            <a:r>
              <a:rPr sz="2100" b="1">
                <a:solidFill>
                  <a:srgbClr val="183247"/>
                </a:solidFill>
                <a:latin typeface="Noto Sans CJK TC"/>
                <a:ea typeface="Noto Sans CJK TC"/>
                <a:cs typeface="Noto Sans CJK TC"/>
              </a:rPr>
              <a:t>T   I   PC   T＋I   T＋PC   I＋PC   FULL</a:t>
            </a:r>
          </a:p>
        </p:txBody>
      </p:sp>
      <p:sp>
        <p:nvSpPr>
          <p:cNvPr id="42" name="TextBox 41"/>
          <p:cNvSpPr txBox="1"/>
          <p:nvPr/>
        </p:nvSpPr>
        <p:spPr>
          <a:xfrm>
            <a:off x="694944" y="5623560"/>
            <a:ext cx="10698480" cy="219456"/>
          </a:xfrm>
          <a:prstGeom prst="rect">
            <a:avLst/>
          </a:prstGeom>
          <a:noFill/>
        </p:spPr>
        <p:txBody>
          <a:bodyPr wrap="square" lIns="13716" rIns="13716" tIns="9144" bIns="9144">
            <a:spAutoFit/>
          </a:bodyPr>
          <a:lstStyle/>
          <a:p>
            <a:pPr algn="l">
              <a:lnSpc>
                <a:spcPct val="112000"/>
              </a:lnSpc>
              <a:spcBef>
                <a:spcPts val="0"/>
              </a:spcBef>
              <a:spcAft>
                <a:spcPts val="200"/>
              </a:spcAft>
            </a:pPr>
            <a:r>
              <a:rPr sz="1150" b="0">
                <a:solidFill>
                  <a:srgbClr val="657A88"/>
                </a:solidFill>
                <a:latin typeface="Noto Sans CJK TC"/>
                <a:ea typeface="Noto Sans CJK TC"/>
                <a:cs typeface="Noto Sans CJK TC"/>
              </a:rPr>
              <a:t>每個 gallery 都是完整 T＋I＋PC；不同文字須經有效 token 檢查。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13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219456"/>
            <a:ext cx="10424160" cy="246888"/>
          </a:xfrm>
          <a:prstGeom prst="rect">
            <a:avLst/>
          </a:prstGeom>
          <a:noFill/>
        </p:spPr>
        <p:txBody>
          <a:bodyPr wrap="square" lIns="13716" rIns="13716" tIns="9144" bIns="9144">
            <a:spAutoFit/>
          </a:bodyPr>
          <a:lstStyle/>
          <a:p>
            <a:pPr algn="l">
              <a:lnSpc>
                <a:spcPct val="112000"/>
              </a:lnSpc>
              <a:spcBef>
                <a:spcPts val="0"/>
              </a:spcBef>
              <a:spcAft>
                <a:spcPts val="200"/>
              </a:spcAft>
            </a:pPr>
            <a:r>
              <a:rPr sz="1100" b="1">
                <a:solidFill>
                  <a:srgbClr val="137D88"/>
                </a:solidFill>
                <a:latin typeface="Noto Sans CJK TC"/>
                <a:ea typeface="Noto Sans CJK TC"/>
                <a:cs typeface="Noto Sans CJK TC"/>
              </a:rPr>
              <a:t>GT與計分</a:t>
            </a:r>
          </a:p>
        </p:txBody>
      </p:sp>
      <p:sp>
        <p:nvSpPr>
          <p:cNvPr id="4" name="TextBox 3"/>
          <p:cNvSpPr txBox="1"/>
          <p:nvPr/>
        </p:nvSpPr>
        <p:spPr>
          <a:xfrm>
            <a:off x="521207" y="630936"/>
            <a:ext cx="11119104" cy="923544"/>
          </a:xfrm>
          <a:prstGeom prst="rect">
            <a:avLst/>
          </a:prstGeom>
          <a:noFill/>
        </p:spPr>
        <p:txBody>
          <a:bodyPr wrap="square" lIns="13716" rIns="13716" tIns="9144" bIns="9144">
            <a:spAutoFit/>
          </a:bodyPr>
          <a:lstStyle/>
          <a:p>
            <a:pPr algn="l">
              <a:lnSpc>
                <a:spcPct val="112000"/>
              </a:lnSpc>
              <a:spcBef>
                <a:spcPts val="0"/>
              </a:spcBef>
              <a:spcAft>
                <a:spcPts val="200"/>
              </a:spcAft>
            </a:pPr>
            <a:r>
              <a:rPr sz="3100" b="1">
                <a:solidFill>
                  <a:srgbClr val="183247"/>
                </a:solidFill>
                <a:latin typeface="Noto Sans CJK TC"/>
                <a:ea typeface="Noto Sans CJK TC"/>
                <a:cs typeface="Noto Sans CJK TC"/>
              </a:rPr>
              <a:t>UID正解＋保守同分排名，保留完整分母</a:t>
            </a:r>
          </a:p>
        </p:txBody>
      </p:sp>
      <p:cxnSp>
        <p:nvCxnSpPr>
          <p:cNvPr id="5" name="Connector 4"/>
          <p:cNvCxnSpPr/>
          <p:nvPr/>
        </p:nvCxnSpPr>
        <p:spPr>
          <a:xfrm>
            <a:off x="548640" y="1481328"/>
            <a:ext cx="11091672" cy="0"/>
          </a:xfrm>
          <a:prstGeom prst="line">
            <a:avLst/>
          </a:prstGeom>
          <a:ln w="16510">
            <a:solidFill>
              <a:srgbClr val="D9E2E7"/>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48640" y="5916168"/>
            <a:ext cx="11064240" cy="384048"/>
          </a:xfrm>
          <a:prstGeom prst="rect">
            <a:avLst/>
          </a:prstGeom>
          <a:solidFill>
            <a:srgbClr val="E6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943600"/>
            <a:ext cx="10789920" cy="310896"/>
          </a:xfrm>
          <a:prstGeom prst="rect">
            <a:avLst/>
          </a:prstGeom>
          <a:noFill/>
        </p:spPr>
        <p:txBody>
          <a:bodyPr wrap="square" lIns="13716" rIns="13716" tIns="9144" bIns="9144">
            <a:spAutoFit/>
          </a:bodyPr>
          <a:lstStyle/>
          <a:p>
            <a:pPr algn="l">
              <a:lnSpc>
                <a:spcPct val="112000"/>
              </a:lnSpc>
              <a:spcBef>
                <a:spcPts val="0"/>
              </a:spcBef>
              <a:spcAft>
                <a:spcPts val="200"/>
              </a:spcAft>
            </a:pPr>
            <a:r>
              <a:rPr sz="1500" b="1">
                <a:solidFill>
                  <a:srgbClr val="137D88"/>
                </a:solidFill>
                <a:latin typeface="Noto Sans CJK TC"/>
                <a:ea typeface="Noto Sans CJK TC"/>
                <a:cs typeface="Noto Sans CJK TC"/>
              </a:rPr>
              <a:t>Query [A,B]、gallery [B,C,A]，target columns=[2,0]。</a:t>
            </a:r>
          </a:p>
        </p:txBody>
      </p:sp>
      <p:sp>
        <p:nvSpPr>
          <p:cNvPr id="8" name="TextBox 7">
            <a:hlinkClick r:id="rId2"/>
          </p:cNvPr>
          <p:cNvSpPr txBox="1"/>
          <p:nvPr/>
        </p:nvSpPr>
        <p:spPr>
          <a:xfrm>
            <a:off x="548640" y="6473952"/>
            <a:ext cx="10149840" cy="182880"/>
          </a:xfrm>
          <a:prstGeom prst="rect">
            <a:avLst/>
          </a:prstGeom>
          <a:noFill/>
        </p:spPr>
        <p:txBody>
          <a:bodyPr wrap="square" lIns="13716" rIns="13716" tIns="9144" bIns="9144">
            <a:spAutoFit/>
          </a:bodyPr>
          <a:lstStyle/>
          <a:p>
            <a:pPr algn="l">
              <a:lnSpc>
                <a:spcPct val="112000"/>
              </a:lnSpc>
              <a:spcBef>
                <a:spcPts val="0"/>
              </a:spcBef>
              <a:spcAft>
                <a:spcPts val="200"/>
              </a:spcAft>
            </a:pPr>
            <a:r>
              <a:rPr sz="819" b="0">
                <a:solidFill>
                  <a:srgbClr val="657A88"/>
                </a:solidFill>
                <a:latin typeface="Noto Sans CJK TC"/>
                <a:ea typeface="Noto Sans CJK TC"/>
                <a:cs typeface="Noto Sans CJK TC"/>
              </a:rPr>
              <a:t>來源：Notion §3；[最終發布版](output/validation/corpus_guard_20260908/notion_table1_stage2_published.md:183)</a:t>
            </a:r>
          </a:p>
        </p:txBody>
      </p:sp>
      <p:sp>
        <p:nvSpPr>
          <p:cNvPr id="9" name="TextBox 8"/>
          <p:cNvSpPr txBox="1"/>
          <p:nvPr/>
        </p:nvSpPr>
        <p:spPr>
          <a:xfrm>
            <a:off x="10771632" y="6446520"/>
            <a:ext cx="850392" cy="237744"/>
          </a:xfrm>
          <a:prstGeom prst="rect">
            <a:avLst/>
          </a:prstGeom>
          <a:noFill/>
        </p:spPr>
        <p:txBody>
          <a:bodyPr wrap="square" lIns="13716" rIns="13716" tIns="9144" bIns="9144">
            <a:spAutoFit/>
          </a:bodyPr>
          <a:lstStyle/>
          <a:p>
            <a:pPr algn="r">
              <a:lnSpc>
                <a:spcPct val="112000"/>
              </a:lnSpc>
              <a:spcBef>
                <a:spcPts val="0"/>
              </a:spcBef>
              <a:spcAft>
                <a:spcPts val="200"/>
              </a:spcAft>
            </a:pPr>
            <a:r>
              <a:rPr sz="1100" b="0">
                <a:solidFill>
                  <a:srgbClr val="657A88"/>
                </a:solidFill>
                <a:latin typeface="Noto Sans CJK TC"/>
                <a:ea typeface="Noto Sans CJK TC"/>
                <a:cs typeface="Noto Sans CJK TC"/>
              </a:rPr>
              <a:t>04 / 10</a:t>
            </a:r>
          </a:p>
        </p:txBody>
      </p:sp>
      <p:sp>
        <p:nvSpPr>
          <p:cNvPr id="10" name="TextBox 9"/>
          <p:cNvSpPr txBox="1"/>
          <p:nvPr/>
        </p:nvSpPr>
        <p:spPr>
          <a:xfrm>
            <a:off x="667512" y="1700784"/>
            <a:ext cx="10698480" cy="356616"/>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教學示例（非模型結果）</a:t>
            </a:r>
          </a:p>
        </p:txBody>
      </p:sp>
      <p:sp>
        <p:nvSpPr>
          <p:cNvPr id="11" name="Rectangle 10"/>
          <p:cNvSpPr/>
          <p:nvPr/>
        </p:nvSpPr>
        <p:spPr>
          <a:xfrm>
            <a:off x="548640" y="2157984"/>
            <a:ext cx="3688080"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212848"/>
            <a:ext cx="3505199"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FFFFFF"/>
                </a:solidFill>
                <a:latin typeface="Noto Sans CJK TC"/>
                <a:ea typeface="Noto Sans CJK TC"/>
                <a:cs typeface="Noto Sans CJK TC"/>
              </a:rPr>
              <a:t>Query</a:t>
            </a:r>
          </a:p>
        </p:txBody>
      </p:sp>
      <p:sp>
        <p:nvSpPr>
          <p:cNvPr id="13" name="Rectangle 12"/>
          <p:cNvSpPr/>
          <p:nvPr/>
        </p:nvSpPr>
        <p:spPr>
          <a:xfrm>
            <a:off x="4236720" y="2157984"/>
            <a:ext cx="1475232"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8159" y="2212848"/>
            <a:ext cx="1292352"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FFFFFF"/>
                </a:solidFill>
                <a:latin typeface="Noto Sans CJK TC"/>
                <a:ea typeface="Noto Sans CJK TC"/>
                <a:cs typeface="Noto Sans CJK TC"/>
              </a:rPr>
              <a:t>B分數</a:t>
            </a:r>
          </a:p>
        </p:txBody>
      </p:sp>
      <p:sp>
        <p:nvSpPr>
          <p:cNvPr id="15" name="Rectangle 14"/>
          <p:cNvSpPr/>
          <p:nvPr/>
        </p:nvSpPr>
        <p:spPr>
          <a:xfrm>
            <a:off x="5711951" y="2157984"/>
            <a:ext cx="1475232"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03391" y="2212848"/>
            <a:ext cx="1292352"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FFFFFF"/>
                </a:solidFill>
                <a:latin typeface="Noto Sans CJK TC"/>
                <a:ea typeface="Noto Sans CJK TC"/>
                <a:cs typeface="Noto Sans CJK TC"/>
              </a:rPr>
              <a:t>C分數</a:t>
            </a:r>
          </a:p>
        </p:txBody>
      </p:sp>
      <p:sp>
        <p:nvSpPr>
          <p:cNvPr id="17" name="Rectangle 16"/>
          <p:cNvSpPr/>
          <p:nvPr/>
        </p:nvSpPr>
        <p:spPr>
          <a:xfrm>
            <a:off x="7187183" y="2157984"/>
            <a:ext cx="1475232"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78623" y="2212848"/>
            <a:ext cx="1292352"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FFFFFF"/>
                </a:solidFill>
                <a:latin typeface="Noto Sans CJK TC"/>
                <a:ea typeface="Noto Sans CJK TC"/>
                <a:cs typeface="Noto Sans CJK TC"/>
              </a:rPr>
              <a:t>A分數</a:t>
            </a:r>
          </a:p>
        </p:txBody>
      </p:sp>
      <p:sp>
        <p:nvSpPr>
          <p:cNvPr id="19" name="Rectangle 18"/>
          <p:cNvSpPr/>
          <p:nvPr/>
        </p:nvSpPr>
        <p:spPr>
          <a:xfrm>
            <a:off x="8662416" y="2157984"/>
            <a:ext cx="1475232"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53856" y="2212848"/>
            <a:ext cx="1292352"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FFFFFF"/>
                </a:solidFill>
                <a:latin typeface="Noto Sans CJK TC"/>
                <a:ea typeface="Noto Sans CJK TC"/>
                <a:cs typeface="Noto Sans CJK TC"/>
              </a:rPr>
              <a:t>GT欄</a:t>
            </a:r>
          </a:p>
        </p:txBody>
      </p:sp>
      <p:sp>
        <p:nvSpPr>
          <p:cNvPr id="21" name="Rectangle 20"/>
          <p:cNvSpPr/>
          <p:nvPr/>
        </p:nvSpPr>
        <p:spPr>
          <a:xfrm>
            <a:off x="10137648" y="2157984"/>
            <a:ext cx="1475232"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29088" y="2212848"/>
            <a:ext cx="1292352"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FFFFFF"/>
                </a:solidFill>
                <a:latin typeface="Noto Sans CJK TC"/>
                <a:ea typeface="Noto Sans CJK TC"/>
                <a:cs typeface="Noto Sans CJK TC"/>
              </a:rPr>
              <a:t>Rank</a:t>
            </a:r>
          </a:p>
        </p:txBody>
      </p:sp>
      <p:sp>
        <p:nvSpPr>
          <p:cNvPr id="23" name="Rectangle 22"/>
          <p:cNvSpPr/>
          <p:nvPr/>
        </p:nvSpPr>
        <p:spPr>
          <a:xfrm>
            <a:off x="548640" y="2651760"/>
            <a:ext cx="3688080" cy="51206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2706624"/>
            <a:ext cx="3505199" cy="42062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183247"/>
                </a:solidFill>
                <a:latin typeface="Noto Sans CJK TC"/>
                <a:ea typeface="Noto Sans CJK TC"/>
                <a:cs typeface="Noto Sans CJK TC"/>
              </a:rPr>
              <a:t>A</a:t>
            </a:r>
          </a:p>
        </p:txBody>
      </p:sp>
      <p:sp>
        <p:nvSpPr>
          <p:cNvPr id="25" name="Rectangle 24"/>
          <p:cNvSpPr/>
          <p:nvPr/>
        </p:nvSpPr>
        <p:spPr>
          <a:xfrm>
            <a:off x="4236720" y="2651760"/>
            <a:ext cx="1475232" cy="51206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8159" y="2706624"/>
            <a:ext cx="1292352" cy="42062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0.9</a:t>
            </a:r>
          </a:p>
        </p:txBody>
      </p:sp>
      <p:sp>
        <p:nvSpPr>
          <p:cNvPr id="27" name="Rectangle 26"/>
          <p:cNvSpPr/>
          <p:nvPr/>
        </p:nvSpPr>
        <p:spPr>
          <a:xfrm>
            <a:off x="5711951" y="2651760"/>
            <a:ext cx="1475232" cy="51206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03391" y="2706624"/>
            <a:ext cx="1292352" cy="42062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0.3</a:t>
            </a:r>
          </a:p>
        </p:txBody>
      </p:sp>
      <p:sp>
        <p:nvSpPr>
          <p:cNvPr id="29" name="Rectangle 28"/>
          <p:cNvSpPr/>
          <p:nvPr/>
        </p:nvSpPr>
        <p:spPr>
          <a:xfrm>
            <a:off x="7187183" y="2651760"/>
            <a:ext cx="1475232" cy="51206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78623" y="2706624"/>
            <a:ext cx="1292352" cy="42062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0.9</a:t>
            </a:r>
          </a:p>
        </p:txBody>
      </p:sp>
      <p:sp>
        <p:nvSpPr>
          <p:cNvPr id="31" name="Rectangle 30"/>
          <p:cNvSpPr/>
          <p:nvPr/>
        </p:nvSpPr>
        <p:spPr>
          <a:xfrm>
            <a:off x="8662416" y="2651760"/>
            <a:ext cx="1475232" cy="51206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53856" y="2706624"/>
            <a:ext cx="1292352" cy="42062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2</a:t>
            </a:r>
          </a:p>
        </p:txBody>
      </p:sp>
      <p:sp>
        <p:nvSpPr>
          <p:cNvPr id="33" name="Rectangle 32"/>
          <p:cNvSpPr/>
          <p:nvPr/>
        </p:nvSpPr>
        <p:spPr>
          <a:xfrm>
            <a:off x="10137648" y="2651760"/>
            <a:ext cx="1475232" cy="51206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29088" y="2706624"/>
            <a:ext cx="1292352" cy="42062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2</a:t>
            </a:r>
          </a:p>
        </p:txBody>
      </p:sp>
      <p:sp>
        <p:nvSpPr>
          <p:cNvPr id="35" name="Rectangle 34"/>
          <p:cNvSpPr/>
          <p:nvPr/>
        </p:nvSpPr>
        <p:spPr>
          <a:xfrm>
            <a:off x="548640" y="3163824"/>
            <a:ext cx="3688080" cy="512063"/>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3218688"/>
            <a:ext cx="3505199" cy="42062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1">
                <a:solidFill>
                  <a:srgbClr val="183247"/>
                </a:solidFill>
                <a:latin typeface="Noto Sans CJK TC"/>
                <a:ea typeface="Noto Sans CJK TC"/>
                <a:cs typeface="Noto Sans CJK TC"/>
              </a:rPr>
              <a:t>B</a:t>
            </a:r>
          </a:p>
        </p:txBody>
      </p:sp>
      <p:sp>
        <p:nvSpPr>
          <p:cNvPr id="37" name="Rectangle 36"/>
          <p:cNvSpPr/>
          <p:nvPr/>
        </p:nvSpPr>
        <p:spPr>
          <a:xfrm>
            <a:off x="4236720" y="3163824"/>
            <a:ext cx="1475232" cy="512063"/>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28159" y="3218688"/>
            <a:ext cx="1292352" cy="42062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0.6</a:t>
            </a:r>
          </a:p>
        </p:txBody>
      </p:sp>
      <p:sp>
        <p:nvSpPr>
          <p:cNvPr id="39" name="Rectangle 38"/>
          <p:cNvSpPr/>
          <p:nvPr/>
        </p:nvSpPr>
        <p:spPr>
          <a:xfrm>
            <a:off x="5711951" y="3163824"/>
            <a:ext cx="1475232" cy="512063"/>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03391" y="3218688"/>
            <a:ext cx="1292352" cy="42062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0.8</a:t>
            </a:r>
          </a:p>
        </p:txBody>
      </p:sp>
      <p:sp>
        <p:nvSpPr>
          <p:cNvPr id="41" name="Rectangle 40"/>
          <p:cNvSpPr/>
          <p:nvPr/>
        </p:nvSpPr>
        <p:spPr>
          <a:xfrm>
            <a:off x="7187183" y="3163824"/>
            <a:ext cx="1475232" cy="512063"/>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78623" y="3218688"/>
            <a:ext cx="1292352" cy="42062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0.1</a:t>
            </a:r>
          </a:p>
        </p:txBody>
      </p:sp>
      <p:sp>
        <p:nvSpPr>
          <p:cNvPr id="43" name="Rectangle 42"/>
          <p:cNvSpPr/>
          <p:nvPr/>
        </p:nvSpPr>
        <p:spPr>
          <a:xfrm>
            <a:off x="8662416" y="3163824"/>
            <a:ext cx="1475232" cy="512063"/>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53856" y="3218688"/>
            <a:ext cx="1292352" cy="42062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0</a:t>
            </a:r>
          </a:p>
        </p:txBody>
      </p:sp>
      <p:sp>
        <p:nvSpPr>
          <p:cNvPr id="45" name="Rectangle 44"/>
          <p:cNvSpPr/>
          <p:nvPr/>
        </p:nvSpPr>
        <p:spPr>
          <a:xfrm>
            <a:off x="10137648" y="3163824"/>
            <a:ext cx="1475232" cy="512063"/>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9088" y="3218688"/>
            <a:ext cx="1292352" cy="420623"/>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700" b="0">
                <a:solidFill>
                  <a:srgbClr val="183247"/>
                </a:solidFill>
                <a:latin typeface="Noto Sans CJK TC"/>
                <a:ea typeface="Noto Sans CJK TC"/>
                <a:cs typeface="Noto Sans CJK TC"/>
              </a:rPr>
              <a:t>2</a:t>
            </a:r>
          </a:p>
        </p:txBody>
      </p:sp>
      <p:sp>
        <p:nvSpPr>
          <p:cNvPr id="47" name="TextBox 46"/>
          <p:cNvSpPr txBox="1"/>
          <p:nvPr/>
        </p:nvSpPr>
        <p:spPr>
          <a:xfrm>
            <a:off x="704088" y="3968496"/>
            <a:ext cx="10698480" cy="466344"/>
          </a:xfrm>
          <a:prstGeom prst="rect">
            <a:avLst/>
          </a:prstGeom>
          <a:noFill/>
        </p:spPr>
        <p:txBody>
          <a:bodyPr wrap="square" lIns="13716" rIns="13716" tIns="9144" bIns="9144">
            <a:spAutoFit/>
          </a:bodyPr>
          <a:lstStyle/>
          <a:p>
            <a:pPr algn="l">
              <a:lnSpc>
                <a:spcPct val="112000"/>
              </a:lnSpc>
              <a:spcBef>
                <a:spcPts val="0"/>
              </a:spcBef>
              <a:spcAft>
                <a:spcPts val="200"/>
              </a:spcAft>
            </a:pPr>
            <a:r>
              <a:rPr sz="2400" b="1">
                <a:solidFill>
                  <a:srgbClr val="183247"/>
                </a:solidFill>
                <a:latin typeface="Noto Sans CJK TC"/>
                <a:ea typeface="Noto Sans CJK TC"/>
                <a:cs typeface="Noto Sans CJK TC"/>
              </a:rPr>
              <a:t>rank = 1 + 更高分的非GT數 + 同分的非GT數</a:t>
            </a:r>
          </a:p>
        </p:txBody>
      </p:sp>
      <p:sp>
        <p:nvSpPr>
          <p:cNvPr id="48" name="TextBox 47"/>
          <p:cNvSpPr txBox="1"/>
          <p:nvPr/>
        </p:nvSpPr>
        <p:spPr>
          <a:xfrm>
            <a:off x="704088" y="4617720"/>
            <a:ext cx="10698480" cy="420624"/>
          </a:xfrm>
          <a:prstGeom prst="rect">
            <a:avLst/>
          </a:prstGeom>
          <a:noFill/>
        </p:spPr>
        <p:txBody>
          <a:bodyPr wrap="square" lIns="13716" rIns="13716" tIns="9144" bIns="9144">
            <a:spAutoFit/>
          </a:bodyPr>
          <a:lstStyle/>
          <a:p>
            <a:pPr algn="l">
              <a:lnSpc>
                <a:spcPct val="112000"/>
              </a:lnSpc>
              <a:spcBef>
                <a:spcPts val="0"/>
              </a:spcBef>
              <a:spcAft>
                <a:spcPts val="200"/>
              </a:spcAft>
            </a:pPr>
            <a:r>
              <a:rPr sz="2100" b="1">
                <a:solidFill>
                  <a:srgbClr val="137D88"/>
                </a:solidFill>
                <a:latin typeface="Noto Sans CJK TC"/>
                <a:ea typeface="Noto Sans CJK TC"/>
                <a:cs typeface="Noto Sans CJK TC"/>
              </a:rPr>
              <a:t>教學例：R@1=0%；R@5=100%（2 query／3 gallery）</a:t>
            </a:r>
          </a:p>
        </p:txBody>
      </p:sp>
      <p:sp>
        <p:nvSpPr>
          <p:cNvPr id="49" name="TextBox 48"/>
          <p:cNvSpPr txBox="1"/>
          <p:nvPr/>
        </p:nvSpPr>
        <p:spPr>
          <a:xfrm>
            <a:off x="704088" y="5276088"/>
            <a:ext cx="10698480" cy="329184"/>
          </a:xfrm>
          <a:prstGeom prst="rect">
            <a:avLst/>
          </a:prstGeom>
          <a:noFill/>
        </p:spPr>
        <p:txBody>
          <a:bodyPr wrap="square" lIns="13716" rIns="13716" tIns="9144" bIns="9144">
            <a:spAutoFit/>
          </a:bodyPr>
          <a:lstStyle/>
          <a:p>
            <a:pPr algn="l">
              <a:lnSpc>
                <a:spcPct val="112000"/>
              </a:lnSpc>
              <a:spcBef>
                <a:spcPts val="0"/>
              </a:spcBef>
              <a:spcAft>
                <a:spcPts val="200"/>
              </a:spcAft>
            </a:pPr>
            <a:r>
              <a:rPr sz="1600" b="0">
                <a:solidFill>
                  <a:srgbClr val="657A88"/>
                </a:solidFill>
                <a:latin typeface="Noto Sans CJK TC"/>
                <a:ea typeface="Noto Sans CJK TC"/>
                <a:cs typeface="Noto Sans CJK TC"/>
              </a:rPr>
              <a:t>以 float64 cosine 排名；小 gallery 的 R@5 可能缺乏鑑別力。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13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219456"/>
            <a:ext cx="10424160" cy="246888"/>
          </a:xfrm>
          <a:prstGeom prst="rect">
            <a:avLst/>
          </a:prstGeom>
          <a:noFill/>
        </p:spPr>
        <p:txBody>
          <a:bodyPr wrap="square" lIns="13716" rIns="13716" tIns="9144" bIns="9144">
            <a:spAutoFit/>
          </a:bodyPr>
          <a:lstStyle/>
          <a:p>
            <a:pPr algn="l">
              <a:lnSpc>
                <a:spcPct val="112000"/>
              </a:lnSpc>
              <a:spcBef>
                <a:spcPts val="0"/>
              </a:spcBef>
              <a:spcAft>
                <a:spcPts val="200"/>
              </a:spcAft>
            </a:pPr>
            <a:r>
              <a:rPr sz="1100" b="1">
                <a:solidFill>
                  <a:srgbClr val="137D88"/>
                </a:solidFill>
                <a:latin typeface="Noto Sans CJK TC"/>
                <a:ea typeface="Noto Sans CJK TC"/>
                <a:cs typeface="Noto Sans CJK TC"/>
              </a:rPr>
              <a:t>歷史高分證據</a:t>
            </a:r>
          </a:p>
        </p:txBody>
      </p:sp>
      <p:sp>
        <p:nvSpPr>
          <p:cNvPr id="4" name="TextBox 3"/>
          <p:cNvSpPr txBox="1"/>
          <p:nvPr/>
        </p:nvSpPr>
        <p:spPr>
          <a:xfrm>
            <a:off x="521207" y="630936"/>
            <a:ext cx="11119104" cy="923544"/>
          </a:xfrm>
          <a:prstGeom prst="rect">
            <a:avLst/>
          </a:prstGeom>
          <a:noFill/>
        </p:spPr>
        <p:txBody>
          <a:bodyPr wrap="square" lIns="13716" rIns="13716" tIns="9144" bIns="9144">
            <a:spAutoFit/>
          </a:bodyPr>
          <a:lstStyle/>
          <a:p>
            <a:pPr algn="l">
              <a:lnSpc>
                <a:spcPct val="112000"/>
              </a:lnSpc>
              <a:spcBef>
                <a:spcPts val="0"/>
              </a:spcBef>
              <a:spcAft>
                <a:spcPts val="200"/>
              </a:spcAft>
            </a:pPr>
            <a:r>
              <a:rPr sz="3100" b="1">
                <a:solidFill>
                  <a:srgbClr val="183247"/>
                </a:solidFill>
                <a:latin typeface="Noto Sans CJK TC"/>
                <a:ea typeface="Noto Sans CJK TC"/>
                <a:cs typeface="Noto Sans CJK TC"/>
              </a:rPr>
              <a:t>T＋I與T＋PC偏高：訊號依賴可見，完整根因仍未知</a:t>
            </a:r>
          </a:p>
        </p:txBody>
      </p:sp>
      <p:cxnSp>
        <p:nvCxnSpPr>
          <p:cNvPr id="5" name="Connector 4"/>
          <p:cNvCxnSpPr/>
          <p:nvPr/>
        </p:nvCxnSpPr>
        <p:spPr>
          <a:xfrm>
            <a:off x="548640" y="1481328"/>
            <a:ext cx="11091672" cy="0"/>
          </a:xfrm>
          <a:prstGeom prst="line">
            <a:avLst/>
          </a:prstGeom>
          <a:ln w="16510">
            <a:solidFill>
              <a:srgbClr val="D9E2E7"/>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48640" y="5916168"/>
            <a:ext cx="11064240" cy="384048"/>
          </a:xfrm>
          <a:prstGeom prst="rect">
            <a:avLst/>
          </a:prstGeom>
          <a:solidFill>
            <a:srgbClr val="E6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943600"/>
            <a:ext cx="10789920" cy="310896"/>
          </a:xfrm>
          <a:prstGeom prst="rect">
            <a:avLst/>
          </a:prstGeom>
          <a:noFill/>
        </p:spPr>
        <p:txBody>
          <a:bodyPr wrap="square" lIns="13716" rIns="13716" tIns="9144" bIns="9144">
            <a:spAutoFit/>
          </a:bodyPr>
          <a:lstStyle/>
          <a:p>
            <a:pPr algn="l">
              <a:lnSpc>
                <a:spcPct val="112000"/>
              </a:lnSpc>
              <a:spcBef>
                <a:spcPts val="0"/>
              </a:spcBef>
              <a:spcAft>
                <a:spcPts val="200"/>
              </a:spcAft>
            </a:pPr>
            <a:r>
              <a:rPr sz="1700" b="1">
                <a:solidFill>
                  <a:srgbClr val="137D88"/>
                </a:solidFill>
                <a:latin typeface="Noto Sans CJK TC"/>
                <a:ea typeface="Noto Sans CJK TC"/>
                <a:cs typeface="Noto Sans CJK TC"/>
              </a:rPr>
              <a:t>歷史9,138×9,138 holdout；不是新custom，也不是獨立測試。</a:t>
            </a:r>
          </a:p>
        </p:txBody>
      </p:sp>
      <p:sp>
        <p:nvSpPr>
          <p:cNvPr id="8" name="TextBox 7">
            <a:hlinkClick r:id="rId2"/>
          </p:cNvPr>
          <p:cNvSpPr txBox="1"/>
          <p:nvPr/>
        </p:nvSpPr>
        <p:spPr>
          <a:xfrm>
            <a:off x="548640" y="6473952"/>
            <a:ext cx="10149840" cy="182880"/>
          </a:xfrm>
          <a:prstGeom prst="rect">
            <a:avLst/>
          </a:prstGeom>
          <a:noFill/>
        </p:spPr>
        <p:txBody>
          <a:bodyPr wrap="square" lIns="13716" rIns="13716" tIns="9144" bIns="9144">
            <a:spAutoFit/>
          </a:bodyPr>
          <a:lstStyle/>
          <a:p>
            <a:pPr algn="l">
              <a:lnSpc>
                <a:spcPct val="112000"/>
              </a:lnSpc>
              <a:spcBef>
                <a:spcPts val="0"/>
              </a:spcBef>
              <a:spcAft>
                <a:spcPts val="200"/>
              </a:spcAft>
            </a:pPr>
            <a:r>
              <a:rPr sz="819" b="0">
                <a:solidFill>
                  <a:srgbClr val="657A88"/>
                </a:solidFill>
                <a:latin typeface="Noto Sans CJK TC"/>
                <a:ea typeface="Noto Sans CJK TC"/>
                <a:cs typeface="Noto Sans CJK TC"/>
              </a:rPr>
              <a:t>來源：Notion §4.1–4.4；[最終發布版](output/validation/corpus_guard_20260908/notion_table1_stage2_published.md:200)</a:t>
            </a:r>
          </a:p>
        </p:txBody>
      </p:sp>
      <p:sp>
        <p:nvSpPr>
          <p:cNvPr id="9" name="TextBox 8"/>
          <p:cNvSpPr txBox="1"/>
          <p:nvPr/>
        </p:nvSpPr>
        <p:spPr>
          <a:xfrm>
            <a:off x="10771632" y="6446520"/>
            <a:ext cx="850392" cy="237744"/>
          </a:xfrm>
          <a:prstGeom prst="rect">
            <a:avLst/>
          </a:prstGeom>
          <a:noFill/>
        </p:spPr>
        <p:txBody>
          <a:bodyPr wrap="square" lIns="13716" rIns="13716" tIns="9144" bIns="9144">
            <a:spAutoFit/>
          </a:bodyPr>
          <a:lstStyle/>
          <a:p>
            <a:pPr algn="r">
              <a:lnSpc>
                <a:spcPct val="112000"/>
              </a:lnSpc>
              <a:spcBef>
                <a:spcPts val="0"/>
              </a:spcBef>
              <a:spcAft>
                <a:spcPts val="200"/>
              </a:spcAft>
            </a:pPr>
            <a:r>
              <a:rPr sz="1100" b="0">
                <a:solidFill>
                  <a:srgbClr val="657A88"/>
                </a:solidFill>
                <a:latin typeface="Noto Sans CJK TC"/>
                <a:ea typeface="Noto Sans CJK TC"/>
                <a:cs typeface="Noto Sans CJK TC"/>
              </a:rPr>
              <a:t>05 / 10</a:t>
            </a:r>
          </a:p>
        </p:txBody>
      </p:sp>
      <p:pic>
        <p:nvPicPr>
          <p:cNvPr id="10" name="Picture 9" descr="slide_05_chart.png"/>
          <p:cNvPicPr>
            <a:picLocks noChangeAspect="1"/>
          </p:cNvPicPr>
          <p:nvPr/>
        </p:nvPicPr>
        <p:blipFill>
          <a:blip r:embed="rId3"/>
          <a:stretch>
            <a:fillRect/>
          </a:stretch>
        </p:blipFill>
        <p:spPr>
          <a:xfrm>
            <a:off x="548640" y="1682648"/>
            <a:ext cx="7406640" cy="3949903"/>
          </a:xfrm>
          <a:prstGeom prst="rect">
            <a:avLst/>
          </a:prstGeom>
        </p:spPr>
      </p:pic>
      <p:sp>
        <p:nvSpPr>
          <p:cNvPr id="11" name="Rounded Rectangle 10"/>
          <p:cNvSpPr/>
          <p:nvPr/>
        </p:nvSpPr>
        <p:spPr>
          <a:xfrm>
            <a:off x="8229600" y="1719072"/>
            <a:ext cx="3364992" cy="3895344"/>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901952"/>
            <a:ext cx="182880" cy="365760"/>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37D88"/>
                </a:solidFill>
                <a:latin typeface="Noto Sans CJK TC"/>
                <a:ea typeface="Noto Sans CJK TC"/>
                <a:cs typeface="Noto Sans CJK TC"/>
              </a:rPr>
              <a:t>•</a:t>
            </a:r>
          </a:p>
        </p:txBody>
      </p:sp>
      <p:sp>
        <p:nvSpPr>
          <p:cNvPr id="13" name="TextBox 12"/>
          <p:cNvSpPr txBox="1"/>
          <p:nvPr/>
        </p:nvSpPr>
        <p:spPr>
          <a:xfrm>
            <a:off x="8686800" y="1901952"/>
            <a:ext cx="2706624" cy="685800"/>
          </a:xfrm>
          <a:prstGeom prst="rect">
            <a:avLst/>
          </a:prstGeom>
          <a:noFill/>
        </p:spPr>
        <p:txBody>
          <a:bodyPr wrap="square" lIns="13716" rIns="13716" tIns="9144" bIns="9144">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S1單模態已高：I 57.33／PC 96.74</a:t>
            </a:r>
          </a:p>
        </p:txBody>
      </p:sp>
      <p:sp>
        <p:nvSpPr>
          <p:cNvPr id="14" name="TextBox 13"/>
          <p:cNvSpPr txBox="1"/>
          <p:nvPr/>
        </p:nvSpPr>
        <p:spPr>
          <a:xfrm>
            <a:off x="8412480" y="2642616"/>
            <a:ext cx="182880" cy="365760"/>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37D88"/>
                </a:solidFill>
                <a:latin typeface="Noto Sans CJK TC"/>
                <a:ea typeface="Noto Sans CJK TC"/>
                <a:cs typeface="Noto Sans CJK TC"/>
              </a:rPr>
              <a:t>•</a:t>
            </a:r>
          </a:p>
        </p:txBody>
      </p:sp>
      <p:sp>
        <p:nvSpPr>
          <p:cNvPr id="15" name="TextBox 14"/>
          <p:cNvSpPr txBox="1"/>
          <p:nvPr/>
        </p:nvSpPr>
        <p:spPr>
          <a:xfrm>
            <a:off x="8686800" y="2642616"/>
            <a:ext cx="2706624" cy="685800"/>
          </a:xfrm>
          <a:prstGeom prst="rect">
            <a:avLst/>
          </a:prstGeom>
          <a:noFill/>
        </p:spPr>
        <p:txBody>
          <a:bodyPr wrap="square" lIns="13716" rIns="13716" tIns="9144" bIns="9144">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PC重採樣後，T＋PC仍99.15</a:t>
            </a:r>
          </a:p>
        </p:txBody>
      </p:sp>
      <p:sp>
        <p:nvSpPr>
          <p:cNvPr id="16" name="TextBox 15"/>
          <p:cNvSpPr txBox="1"/>
          <p:nvPr/>
        </p:nvSpPr>
        <p:spPr>
          <a:xfrm>
            <a:off x="8412480" y="3383280"/>
            <a:ext cx="182880" cy="365760"/>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37D88"/>
                </a:solidFill>
                <a:latin typeface="Noto Sans CJK TC"/>
                <a:ea typeface="Noto Sans CJK TC"/>
                <a:cs typeface="Noto Sans CJK TC"/>
              </a:rPr>
              <a:t>•</a:t>
            </a:r>
          </a:p>
        </p:txBody>
      </p:sp>
      <p:sp>
        <p:nvSpPr>
          <p:cNvPr id="17" name="TextBox 16"/>
          <p:cNvSpPr txBox="1"/>
          <p:nvPr/>
        </p:nvSpPr>
        <p:spPr>
          <a:xfrm>
            <a:off x="8686800" y="3383280"/>
            <a:ext cx="2706624" cy="685800"/>
          </a:xfrm>
          <a:prstGeom prst="rect">
            <a:avLst/>
          </a:prstGeom>
          <a:noFill/>
        </p:spPr>
        <p:txBody>
          <a:bodyPr wrap="square" lIns="13716" rIns="13716" tIns="9144" bIns="9144">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Weak-own：T＋I 53.70／T＋PC 97.09</a:t>
            </a:r>
          </a:p>
        </p:txBody>
      </p:sp>
      <p:sp>
        <p:nvSpPr>
          <p:cNvPr id="18" name="TextBox 17"/>
          <p:cNvSpPr txBox="1"/>
          <p:nvPr/>
        </p:nvSpPr>
        <p:spPr>
          <a:xfrm>
            <a:off x="8412480" y="4123944"/>
            <a:ext cx="182880" cy="365760"/>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37D88"/>
                </a:solidFill>
                <a:latin typeface="Noto Sans CJK TC"/>
                <a:ea typeface="Noto Sans CJK TC"/>
                <a:cs typeface="Noto Sans CJK TC"/>
              </a:rPr>
              <a:t>•</a:t>
            </a:r>
          </a:p>
        </p:txBody>
      </p:sp>
      <p:sp>
        <p:nvSpPr>
          <p:cNvPr id="19" name="TextBox 18"/>
          <p:cNvSpPr txBox="1"/>
          <p:nvPr/>
        </p:nvSpPr>
        <p:spPr>
          <a:xfrm>
            <a:off x="8686800" y="4123944"/>
            <a:ext cx="2706624" cy="685800"/>
          </a:xfrm>
          <a:prstGeom prst="rect">
            <a:avLst/>
          </a:prstGeom>
          <a:noFill/>
        </p:spPr>
        <p:txBody>
          <a:bodyPr wrap="square" lIns="13716" rIns="13716" tIns="9144" bIns="9144">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4,569 val歸因不能混入9,138 holdout</a:t>
            </a:r>
          </a:p>
        </p:txBody>
      </p:sp>
      <p:sp>
        <p:nvSpPr>
          <p:cNvPr id="20" name="TextBox 19"/>
          <p:cNvSpPr txBox="1"/>
          <p:nvPr/>
        </p:nvSpPr>
        <p:spPr>
          <a:xfrm>
            <a:off x="8439912" y="4992624"/>
            <a:ext cx="2862072" cy="576072"/>
          </a:xfrm>
          <a:prstGeom prst="rect">
            <a:avLst/>
          </a:prstGeom>
          <a:noFill/>
        </p:spPr>
        <p:txBody>
          <a:bodyPr wrap="square" lIns="13716" rIns="13716" tIns="9144" bIns="9144">
            <a:spAutoFit/>
          </a:bodyPr>
          <a:lstStyle/>
          <a:p>
            <a:pPr algn="l">
              <a:lnSpc>
                <a:spcPct val="112000"/>
              </a:lnSpc>
              <a:spcBef>
                <a:spcPts val="0"/>
              </a:spcBef>
              <a:spcAft>
                <a:spcPts val="200"/>
              </a:spcAft>
            </a:pPr>
            <a:r>
              <a:rPr sz="1050" b="0">
                <a:solidFill>
                  <a:srgbClr val="657A88"/>
                </a:solidFill>
                <a:latin typeface="Noto Sans CJK TC"/>
                <a:ea typeface="Noto Sans CJK TC"/>
                <a:cs typeface="Noto Sans CJK TC"/>
              </a:rPr>
              <a:t>歷史本地9138×9138；與論文協定未證相同，並列不是受控因果比較。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13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219456"/>
            <a:ext cx="10424160" cy="246888"/>
          </a:xfrm>
          <a:prstGeom prst="rect">
            <a:avLst/>
          </a:prstGeom>
          <a:noFill/>
        </p:spPr>
        <p:txBody>
          <a:bodyPr wrap="square" lIns="13716" rIns="13716" tIns="9144" bIns="9144">
            <a:spAutoFit/>
          </a:bodyPr>
          <a:lstStyle/>
          <a:p>
            <a:pPr algn="l">
              <a:lnSpc>
                <a:spcPct val="112000"/>
              </a:lnSpc>
              <a:spcBef>
                <a:spcPts val="0"/>
              </a:spcBef>
              <a:spcAft>
                <a:spcPts val="200"/>
              </a:spcAft>
            </a:pPr>
            <a:r>
              <a:rPr sz="1100" b="1">
                <a:solidFill>
                  <a:srgbClr val="137D88"/>
                </a:solidFill>
                <a:latin typeface="Noto Sans CJK TC"/>
                <a:ea typeface="Noto Sans CJK TC"/>
                <a:cs typeface="Noto Sans CJK TC"/>
              </a:rPr>
              <a:t>執行流程</a:t>
            </a:r>
          </a:p>
        </p:txBody>
      </p:sp>
      <p:sp>
        <p:nvSpPr>
          <p:cNvPr id="4" name="TextBox 3"/>
          <p:cNvSpPr txBox="1"/>
          <p:nvPr/>
        </p:nvSpPr>
        <p:spPr>
          <a:xfrm>
            <a:off x="521207" y="630936"/>
            <a:ext cx="11119104" cy="923544"/>
          </a:xfrm>
          <a:prstGeom prst="rect">
            <a:avLst/>
          </a:prstGeom>
          <a:noFill/>
        </p:spPr>
        <p:txBody>
          <a:bodyPr wrap="square" lIns="13716" rIns="13716" tIns="9144" bIns="9144">
            <a:spAutoFit/>
          </a:bodyPr>
          <a:lstStyle/>
          <a:p>
            <a:pPr algn="l">
              <a:lnSpc>
                <a:spcPct val="112000"/>
              </a:lnSpc>
              <a:spcBef>
                <a:spcPts val="0"/>
              </a:spcBef>
              <a:spcAft>
                <a:spcPts val="200"/>
              </a:spcAft>
            </a:pPr>
            <a:r>
              <a:rPr sz="2700" b="1">
                <a:solidFill>
                  <a:srgbClr val="183247"/>
                </a:solidFill>
                <a:latin typeface="Noto Sans CJK TC"/>
                <a:ea typeface="Noto Sans CJK TC"/>
                <a:cs typeface="Noto Sans CJK TC"/>
              </a:rPr>
              <a:t>Prepare → check-only → run → 逐筆驗收</a:t>
            </a:r>
          </a:p>
        </p:txBody>
      </p:sp>
      <p:cxnSp>
        <p:nvCxnSpPr>
          <p:cNvPr id="5" name="Connector 4"/>
          <p:cNvCxnSpPr/>
          <p:nvPr/>
        </p:nvCxnSpPr>
        <p:spPr>
          <a:xfrm>
            <a:off x="548640" y="1481328"/>
            <a:ext cx="11091672" cy="0"/>
          </a:xfrm>
          <a:prstGeom prst="line">
            <a:avLst/>
          </a:prstGeom>
          <a:ln w="16510">
            <a:solidFill>
              <a:srgbClr val="D9E2E7"/>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48640" y="5916168"/>
            <a:ext cx="11064240" cy="384048"/>
          </a:xfrm>
          <a:prstGeom prst="rect">
            <a:avLst/>
          </a:prstGeom>
          <a:solidFill>
            <a:srgbClr val="E6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943600"/>
            <a:ext cx="10789920" cy="310896"/>
          </a:xfrm>
          <a:prstGeom prst="rect">
            <a:avLst/>
          </a:prstGeom>
          <a:noFill/>
        </p:spPr>
        <p:txBody>
          <a:bodyPr wrap="square" lIns="13716" rIns="13716" tIns="9144" bIns="9144">
            <a:spAutoFit/>
          </a:bodyPr>
          <a:lstStyle/>
          <a:p>
            <a:pPr algn="l">
              <a:lnSpc>
                <a:spcPct val="112000"/>
              </a:lnSpc>
              <a:spcBef>
                <a:spcPts val="0"/>
              </a:spcBef>
              <a:spcAft>
                <a:spcPts val="200"/>
              </a:spcAft>
            </a:pPr>
            <a:r>
              <a:rPr sz="1700" b="1">
                <a:solidFill>
                  <a:srgbClr val="137D88"/>
                </a:solidFill>
                <a:latin typeface="Noto Sans CJK TC"/>
                <a:ea typeface="Noto Sans CJK TC"/>
                <a:cs typeface="Noto Sans CJK TC"/>
              </a:rPr>
              <a:t>先凍結資料與來源，真執行才驗token／forward；完整命令放講稿附錄。</a:t>
            </a:r>
          </a:p>
        </p:txBody>
      </p:sp>
      <p:sp>
        <p:nvSpPr>
          <p:cNvPr id="8" name="TextBox 7">
            <a:hlinkClick r:id="rId2"/>
          </p:cNvPr>
          <p:cNvSpPr txBox="1"/>
          <p:nvPr/>
        </p:nvSpPr>
        <p:spPr>
          <a:xfrm>
            <a:off x="548640" y="6473952"/>
            <a:ext cx="10149840" cy="182880"/>
          </a:xfrm>
          <a:prstGeom prst="rect">
            <a:avLst/>
          </a:prstGeom>
          <a:noFill/>
        </p:spPr>
        <p:txBody>
          <a:bodyPr wrap="square" lIns="13716" rIns="13716" tIns="9144" bIns="9144">
            <a:spAutoFit/>
          </a:bodyPr>
          <a:lstStyle/>
          <a:p>
            <a:pPr algn="l">
              <a:lnSpc>
                <a:spcPct val="112000"/>
              </a:lnSpc>
              <a:spcBef>
                <a:spcPts val="0"/>
              </a:spcBef>
              <a:spcAft>
                <a:spcPts val="200"/>
              </a:spcAft>
            </a:pPr>
            <a:r>
              <a:rPr sz="819" b="0">
                <a:solidFill>
                  <a:srgbClr val="657A88"/>
                </a:solidFill>
                <a:latin typeface="Noto Sans CJK TC"/>
                <a:ea typeface="Noto Sans CJK TC"/>
                <a:cs typeface="Noto Sans CJK TC"/>
              </a:rPr>
              <a:t>來源：Notion §5.1–5.5；[最終發布版](output/validation/corpus_guard_20260908/notion_table1_stage2_published.md:316)</a:t>
            </a:r>
          </a:p>
        </p:txBody>
      </p:sp>
      <p:sp>
        <p:nvSpPr>
          <p:cNvPr id="9" name="TextBox 8"/>
          <p:cNvSpPr txBox="1"/>
          <p:nvPr/>
        </p:nvSpPr>
        <p:spPr>
          <a:xfrm>
            <a:off x="10771632" y="6446520"/>
            <a:ext cx="850392" cy="237744"/>
          </a:xfrm>
          <a:prstGeom prst="rect">
            <a:avLst/>
          </a:prstGeom>
          <a:noFill/>
        </p:spPr>
        <p:txBody>
          <a:bodyPr wrap="square" lIns="13716" rIns="13716" tIns="9144" bIns="9144">
            <a:spAutoFit/>
          </a:bodyPr>
          <a:lstStyle/>
          <a:p>
            <a:pPr algn="r">
              <a:lnSpc>
                <a:spcPct val="112000"/>
              </a:lnSpc>
              <a:spcBef>
                <a:spcPts val="0"/>
              </a:spcBef>
              <a:spcAft>
                <a:spcPts val="200"/>
              </a:spcAft>
            </a:pPr>
            <a:r>
              <a:rPr sz="1100" b="0">
                <a:solidFill>
                  <a:srgbClr val="657A88"/>
                </a:solidFill>
                <a:latin typeface="Noto Sans CJK TC"/>
                <a:ea typeface="Noto Sans CJK TC"/>
                <a:cs typeface="Noto Sans CJK TC"/>
              </a:rPr>
              <a:t>06 / 10</a:t>
            </a:r>
          </a:p>
        </p:txBody>
      </p:sp>
      <p:sp>
        <p:nvSpPr>
          <p:cNvPr id="10" name="Rounded Rectangle 9"/>
          <p:cNvSpPr/>
          <p:nvPr/>
        </p:nvSpPr>
        <p:spPr>
          <a:xfrm>
            <a:off x="548640" y="1792224"/>
            <a:ext cx="3505200" cy="1728216"/>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01952"/>
            <a:ext cx="512064" cy="32918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01</a:t>
            </a:r>
          </a:p>
        </p:txBody>
      </p:sp>
      <p:sp>
        <p:nvSpPr>
          <p:cNvPr id="12" name="TextBox 11"/>
          <p:cNvSpPr txBox="1"/>
          <p:nvPr/>
        </p:nvSpPr>
        <p:spPr>
          <a:xfrm>
            <a:off x="685800" y="2322576"/>
            <a:ext cx="3230880" cy="60350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83247"/>
                </a:solidFill>
                <a:latin typeface="Noto Sans CJK TC"/>
                <a:ea typeface="Noto Sans CJK TC"/>
                <a:cs typeface="Noto Sans CJK TC"/>
              </a:rPr>
              <a:t>固定輸入</a:t>
            </a:r>
          </a:p>
        </p:txBody>
      </p:sp>
      <p:sp>
        <p:nvSpPr>
          <p:cNvPr id="13" name="TextBox 12"/>
          <p:cNvSpPr txBox="1"/>
          <p:nvPr/>
        </p:nvSpPr>
        <p:spPr>
          <a:xfrm>
            <a:off x="685800" y="2916936"/>
            <a:ext cx="3230880" cy="530351"/>
          </a:xfrm>
          <a:prstGeom prst="rect">
            <a:avLst/>
          </a:prstGeom>
          <a:noFill/>
        </p:spPr>
        <p:txBody>
          <a:bodyPr wrap="square" lIns="13716" rIns="13716" tIns="9144" bIns="9144">
            <a:spAutoFit/>
          </a:bodyPr>
          <a:lstStyle/>
          <a:p>
            <a:pPr algn="l">
              <a:lnSpc>
                <a:spcPct val="112000"/>
              </a:lnSpc>
              <a:spcBef>
                <a:spcPts val="0"/>
              </a:spcBef>
              <a:spcAft>
                <a:spcPts val="200"/>
              </a:spcAft>
            </a:pPr>
            <a:r>
              <a:rPr sz="1400" b="0">
                <a:solidFill>
                  <a:srgbClr val="657A88"/>
                </a:solidFill>
                <a:latin typeface="Noto Sans CJK TC"/>
                <a:ea typeface="Noto Sans CJK TC"/>
                <a:cs typeface="Noto Sans CJK TC"/>
              </a:rPr>
              <a:t>三份JSON＋provenance</a:t>
            </a:r>
          </a:p>
        </p:txBody>
      </p:sp>
      <p:sp>
        <p:nvSpPr>
          <p:cNvPr id="14" name="TextBox 13"/>
          <p:cNvSpPr txBox="1"/>
          <p:nvPr/>
        </p:nvSpPr>
        <p:spPr>
          <a:xfrm>
            <a:off x="4072128" y="2432304"/>
            <a:ext cx="237744" cy="384048"/>
          </a:xfrm>
          <a:prstGeom prst="rect">
            <a:avLst/>
          </a:prstGeom>
          <a:noFill/>
        </p:spPr>
        <p:txBody>
          <a:bodyPr wrap="square" lIns="13716" rIns="13716" tIns="9144" bIns="9144">
            <a:spAutoFit/>
          </a:bodyPr>
          <a:lstStyle/>
          <a:p>
            <a:pPr algn="ctr">
              <a:lnSpc>
                <a:spcPct val="112000"/>
              </a:lnSpc>
              <a:spcBef>
                <a:spcPts val="0"/>
              </a:spcBef>
              <a:spcAft>
                <a:spcPts val="200"/>
              </a:spcAft>
            </a:pPr>
            <a:r>
              <a:rPr sz="2000" b="1">
                <a:solidFill>
                  <a:srgbClr val="137D88"/>
                </a:solidFill>
                <a:latin typeface="Noto Sans CJK TC"/>
                <a:ea typeface="Noto Sans CJK TC"/>
                <a:cs typeface="Noto Sans CJK TC"/>
              </a:rPr>
              <a:t>→</a:t>
            </a:r>
          </a:p>
        </p:txBody>
      </p:sp>
      <p:sp>
        <p:nvSpPr>
          <p:cNvPr id="15" name="Rounded Rectangle 14"/>
          <p:cNvSpPr/>
          <p:nvPr/>
        </p:nvSpPr>
        <p:spPr>
          <a:xfrm>
            <a:off x="4328160" y="1792224"/>
            <a:ext cx="3505200" cy="1728216"/>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5320" y="1901952"/>
            <a:ext cx="512064" cy="32918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02</a:t>
            </a:r>
          </a:p>
        </p:txBody>
      </p:sp>
      <p:sp>
        <p:nvSpPr>
          <p:cNvPr id="17" name="TextBox 16"/>
          <p:cNvSpPr txBox="1"/>
          <p:nvPr/>
        </p:nvSpPr>
        <p:spPr>
          <a:xfrm>
            <a:off x="4465320" y="2322576"/>
            <a:ext cx="3230880" cy="60350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83247"/>
                </a:solidFill>
                <a:latin typeface="Noto Sans CJK TC"/>
                <a:ea typeface="Noto Sans CJK TC"/>
                <a:cs typeface="Noto Sans CJK TC"/>
              </a:rPr>
              <a:t>Prepare</a:t>
            </a:r>
          </a:p>
        </p:txBody>
      </p:sp>
      <p:sp>
        <p:nvSpPr>
          <p:cNvPr id="18" name="TextBox 17"/>
          <p:cNvSpPr txBox="1"/>
          <p:nvPr/>
        </p:nvSpPr>
        <p:spPr>
          <a:xfrm>
            <a:off x="4465320" y="2916936"/>
            <a:ext cx="3230880" cy="530351"/>
          </a:xfrm>
          <a:prstGeom prst="rect">
            <a:avLst/>
          </a:prstGeom>
          <a:noFill/>
        </p:spPr>
        <p:txBody>
          <a:bodyPr wrap="square" lIns="13716" rIns="13716" tIns="9144" bIns="9144">
            <a:spAutoFit/>
          </a:bodyPr>
          <a:lstStyle/>
          <a:p>
            <a:pPr algn="l">
              <a:lnSpc>
                <a:spcPct val="112000"/>
              </a:lnSpc>
              <a:spcBef>
                <a:spcPts val="0"/>
              </a:spcBef>
              <a:spcAft>
                <a:spcPts val="200"/>
              </a:spcAft>
            </a:pPr>
            <a:r>
              <a:rPr sz="1400" b="0">
                <a:solidFill>
                  <a:srgbClr val="657A88"/>
                </a:solidFill>
                <a:latin typeface="Noto Sans CJK TC"/>
                <a:ea typeface="Noto Sans CJK TC"/>
                <a:cs typeface="Noto Sans CJK TC"/>
              </a:rPr>
              <a:t>凍結觀測／來源hash</a:t>
            </a:r>
          </a:p>
        </p:txBody>
      </p:sp>
      <p:sp>
        <p:nvSpPr>
          <p:cNvPr id="19" name="TextBox 18"/>
          <p:cNvSpPr txBox="1"/>
          <p:nvPr/>
        </p:nvSpPr>
        <p:spPr>
          <a:xfrm>
            <a:off x="7851647" y="2432304"/>
            <a:ext cx="237744" cy="384048"/>
          </a:xfrm>
          <a:prstGeom prst="rect">
            <a:avLst/>
          </a:prstGeom>
          <a:noFill/>
        </p:spPr>
        <p:txBody>
          <a:bodyPr wrap="square" lIns="13716" rIns="13716" tIns="9144" bIns="9144">
            <a:spAutoFit/>
          </a:bodyPr>
          <a:lstStyle/>
          <a:p>
            <a:pPr algn="ctr">
              <a:lnSpc>
                <a:spcPct val="112000"/>
              </a:lnSpc>
              <a:spcBef>
                <a:spcPts val="0"/>
              </a:spcBef>
              <a:spcAft>
                <a:spcPts val="200"/>
              </a:spcAft>
            </a:pPr>
            <a:r>
              <a:rPr sz="2000" b="1">
                <a:solidFill>
                  <a:srgbClr val="137D88"/>
                </a:solidFill>
                <a:latin typeface="Noto Sans CJK TC"/>
                <a:ea typeface="Noto Sans CJK TC"/>
                <a:cs typeface="Noto Sans CJK TC"/>
              </a:rPr>
              <a:t>→</a:t>
            </a:r>
          </a:p>
        </p:txBody>
      </p:sp>
      <p:sp>
        <p:nvSpPr>
          <p:cNvPr id="20" name="Rounded Rectangle 19"/>
          <p:cNvSpPr/>
          <p:nvPr/>
        </p:nvSpPr>
        <p:spPr>
          <a:xfrm>
            <a:off x="8107680" y="1792224"/>
            <a:ext cx="3505200" cy="1728216"/>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4840" y="1901952"/>
            <a:ext cx="512064" cy="32918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03</a:t>
            </a:r>
          </a:p>
        </p:txBody>
      </p:sp>
      <p:sp>
        <p:nvSpPr>
          <p:cNvPr id="22" name="TextBox 21"/>
          <p:cNvSpPr txBox="1"/>
          <p:nvPr/>
        </p:nvSpPr>
        <p:spPr>
          <a:xfrm>
            <a:off x="8244840" y="2322576"/>
            <a:ext cx="3230880" cy="60350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83247"/>
                </a:solidFill>
                <a:latin typeface="Noto Sans CJK TC"/>
                <a:ea typeface="Noto Sans CJK TC"/>
                <a:cs typeface="Noto Sans CJK TC"/>
              </a:rPr>
              <a:t>Check-only</a:t>
            </a:r>
          </a:p>
        </p:txBody>
      </p:sp>
      <p:sp>
        <p:nvSpPr>
          <p:cNvPr id="23" name="TextBox 22"/>
          <p:cNvSpPr txBox="1"/>
          <p:nvPr/>
        </p:nvSpPr>
        <p:spPr>
          <a:xfrm>
            <a:off x="8244840" y="2916936"/>
            <a:ext cx="3230880" cy="530351"/>
          </a:xfrm>
          <a:prstGeom prst="rect">
            <a:avLst/>
          </a:prstGeom>
          <a:noFill/>
        </p:spPr>
        <p:txBody>
          <a:bodyPr wrap="square" lIns="13716" rIns="13716" tIns="9144" bIns="9144">
            <a:spAutoFit/>
          </a:bodyPr>
          <a:lstStyle/>
          <a:p>
            <a:pPr algn="l">
              <a:lnSpc>
                <a:spcPct val="112000"/>
              </a:lnSpc>
              <a:spcBef>
                <a:spcPts val="0"/>
              </a:spcBef>
              <a:spcAft>
                <a:spcPts val="200"/>
              </a:spcAft>
            </a:pPr>
            <a:r>
              <a:rPr sz="1400" b="0">
                <a:solidFill>
                  <a:srgbClr val="657A88"/>
                </a:solidFill>
                <a:latin typeface="Noto Sans CJK TC"/>
                <a:ea typeface="Noto Sans CJK TC"/>
                <a:cs typeface="Noto Sans CJK TC"/>
              </a:rPr>
              <a:t>權重身分／設定相容</a:t>
            </a:r>
          </a:p>
        </p:txBody>
      </p:sp>
      <p:sp>
        <p:nvSpPr>
          <p:cNvPr id="24" name="Rounded Rectangle 23"/>
          <p:cNvSpPr/>
          <p:nvPr/>
        </p:nvSpPr>
        <p:spPr>
          <a:xfrm>
            <a:off x="548640" y="3886200"/>
            <a:ext cx="3505200" cy="1728216"/>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995928"/>
            <a:ext cx="512064" cy="32918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04</a:t>
            </a:r>
          </a:p>
        </p:txBody>
      </p:sp>
      <p:sp>
        <p:nvSpPr>
          <p:cNvPr id="26" name="TextBox 25"/>
          <p:cNvSpPr txBox="1"/>
          <p:nvPr/>
        </p:nvSpPr>
        <p:spPr>
          <a:xfrm>
            <a:off x="685800" y="4416552"/>
            <a:ext cx="3230880" cy="60350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83247"/>
                </a:solidFill>
                <a:latin typeface="Noto Sans CJK TC"/>
                <a:ea typeface="Noto Sans CJK TC"/>
                <a:cs typeface="Noto Sans CJK TC"/>
              </a:rPr>
              <a:t>Run</a:t>
            </a:r>
          </a:p>
        </p:txBody>
      </p:sp>
      <p:sp>
        <p:nvSpPr>
          <p:cNvPr id="27" name="TextBox 26"/>
          <p:cNvSpPr txBox="1"/>
          <p:nvPr/>
        </p:nvSpPr>
        <p:spPr>
          <a:xfrm>
            <a:off x="685800" y="5010912"/>
            <a:ext cx="3230880" cy="530351"/>
          </a:xfrm>
          <a:prstGeom prst="rect">
            <a:avLst/>
          </a:prstGeom>
          <a:noFill/>
        </p:spPr>
        <p:txBody>
          <a:bodyPr wrap="square" lIns="13716" rIns="13716" tIns="9144" bIns="9144">
            <a:spAutoFit/>
          </a:bodyPr>
          <a:lstStyle/>
          <a:p>
            <a:pPr algn="l">
              <a:lnSpc>
                <a:spcPct val="112000"/>
              </a:lnSpc>
              <a:spcBef>
                <a:spcPts val="0"/>
              </a:spcBef>
              <a:spcAft>
                <a:spcPts val="200"/>
              </a:spcAft>
            </a:pPr>
            <a:r>
              <a:rPr sz="1400" b="0">
                <a:solidFill>
                  <a:srgbClr val="657A88"/>
                </a:solidFill>
                <a:latin typeface="Noto Sans CJK TC"/>
                <a:ea typeface="Noto Sans CJK TC"/>
                <a:cs typeface="Noto Sans CJK TC"/>
              </a:rPr>
              <a:t>token／forward／rank</a:t>
            </a:r>
          </a:p>
        </p:txBody>
      </p:sp>
      <p:sp>
        <p:nvSpPr>
          <p:cNvPr id="28" name="TextBox 27"/>
          <p:cNvSpPr txBox="1"/>
          <p:nvPr/>
        </p:nvSpPr>
        <p:spPr>
          <a:xfrm>
            <a:off x="4072128" y="4526280"/>
            <a:ext cx="237744" cy="384048"/>
          </a:xfrm>
          <a:prstGeom prst="rect">
            <a:avLst/>
          </a:prstGeom>
          <a:noFill/>
        </p:spPr>
        <p:txBody>
          <a:bodyPr wrap="square" lIns="13716" rIns="13716" tIns="9144" bIns="9144">
            <a:spAutoFit/>
          </a:bodyPr>
          <a:lstStyle/>
          <a:p>
            <a:pPr algn="ctr">
              <a:lnSpc>
                <a:spcPct val="112000"/>
              </a:lnSpc>
              <a:spcBef>
                <a:spcPts val="0"/>
              </a:spcBef>
              <a:spcAft>
                <a:spcPts val="200"/>
              </a:spcAft>
            </a:pPr>
            <a:r>
              <a:rPr sz="2000" b="1">
                <a:solidFill>
                  <a:srgbClr val="137D88"/>
                </a:solidFill>
                <a:latin typeface="Noto Sans CJK TC"/>
                <a:ea typeface="Noto Sans CJK TC"/>
                <a:cs typeface="Noto Sans CJK TC"/>
              </a:rPr>
              <a:t>→</a:t>
            </a:r>
          </a:p>
        </p:txBody>
      </p:sp>
      <p:sp>
        <p:nvSpPr>
          <p:cNvPr id="29" name="Rounded Rectangle 28"/>
          <p:cNvSpPr/>
          <p:nvPr/>
        </p:nvSpPr>
        <p:spPr>
          <a:xfrm>
            <a:off x="4328160" y="3886200"/>
            <a:ext cx="3505200" cy="1728216"/>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65320" y="3995928"/>
            <a:ext cx="512064" cy="32918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05</a:t>
            </a:r>
          </a:p>
        </p:txBody>
      </p:sp>
      <p:sp>
        <p:nvSpPr>
          <p:cNvPr id="31" name="TextBox 30"/>
          <p:cNvSpPr txBox="1"/>
          <p:nvPr/>
        </p:nvSpPr>
        <p:spPr>
          <a:xfrm>
            <a:off x="4465320" y="4416552"/>
            <a:ext cx="3230880" cy="60350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83247"/>
                </a:solidFill>
                <a:latin typeface="Noto Sans CJK TC"/>
                <a:ea typeface="Noto Sans CJK TC"/>
                <a:cs typeface="Noto Sans CJK TC"/>
              </a:rPr>
              <a:t>驗收</a:t>
            </a:r>
          </a:p>
        </p:txBody>
      </p:sp>
      <p:sp>
        <p:nvSpPr>
          <p:cNvPr id="32" name="TextBox 31"/>
          <p:cNvSpPr txBox="1"/>
          <p:nvPr/>
        </p:nvSpPr>
        <p:spPr>
          <a:xfrm>
            <a:off x="4465320" y="5010912"/>
            <a:ext cx="3230880" cy="530351"/>
          </a:xfrm>
          <a:prstGeom prst="rect">
            <a:avLst/>
          </a:prstGeom>
          <a:noFill/>
        </p:spPr>
        <p:txBody>
          <a:bodyPr wrap="square" lIns="13716" rIns="13716" tIns="9144" bIns="9144">
            <a:spAutoFit/>
          </a:bodyPr>
          <a:lstStyle/>
          <a:p>
            <a:pPr algn="l">
              <a:lnSpc>
                <a:spcPct val="112000"/>
              </a:lnSpc>
              <a:spcBef>
                <a:spcPts val="0"/>
              </a:spcBef>
              <a:spcAft>
                <a:spcPts val="200"/>
              </a:spcAft>
            </a:pPr>
            <a:r>
              <a:rPr sz="1400" b="0">
                <a:solidFill>
                  <a:srgbClr val="657A88"/>
                </a:solidFill>
                <a:latin typeface="Noto Sans CJK TC"/>
                <a:ea typeface="Noto Sans CJK TC"/>
                <a:cs typeface="Noto Sans CJK TC"/>
              </a:rPr>
              <a:t>42組＋42×N筆records</a:t>
            </a:r>
          </a:p>
        </p:txBody>
      </p:sp>
      <p:sp>
        <p:nvSpPr>
          <p:cNvPr id="33" name="TextBox 32"/>
          <p:cNvSpPr txBox="1"/>
          <p:nvPr/>
        </p:nvSpPr>
        <p:spPr>
          <a:xfrm>
            <a:off x="640080" y="5660136"/>
            <a:ext cx="10789920" cy="219456"/>
          </a:xfrm>
          <a:prstGeom prst="rect">
            <a:avLst/>
          </a:prstGeom>
          <a:noFill/>
        </p:spPr>
        <p:txBody>
          <a:bodyPr wrap="square" lIns="13716" rIns="13716" tIns="9144" bIns="9144">
            <a:spAutoFit/>
          </a:bodyPr>
          <a:lstStyle/>
          <a:p>
            <a:pPr algn="l">
              <a:lnSpc>
                <a:spcPct val="112000"/>
              </a:lnSpc>
              <a:spcBef>
                <a:spcPts val="0"/>
              </a:spcBef>
              <a:spcAft>
                <a:spcPts val="200"/>
              </a:spcAft>
            </a:pPr>
            <a:r>
              <a:rPr sz="1100" b="0">
                <a:solidFill>
                  <a:srgbClr val="657A88"/>
                </a:solidFill>
                <a:latin typeface="Noto Sans CJK TC"/>
                <a:ea typeface="Noto Sans CJK TC"/>
                <a:cs typeface="Noto Sans CJK TC"/>
              </a:rPr>
              <a:t>完整CLI見講稿附錄；此流程不自動由live chain呼叫</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13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219456"/>
            <a:ext cx="10424160" cy="246888"/>
          </a:xfrm>
          <a:prstGeom prst="rect">
            <a:avLst/>
          </a:prstGeom>
          <a:noFill/>
        </p:spPr>
        <p:txBody>
          <a:bodyPr wrap="square" lIns="13716" rIns="13716" tIns="9144" bIns="9144">
            <a:spAutoFit/>
          </a:bodyPr>
          <a:lstStyle/>
          <a:p>
            <a:pPr algn="l">
              <a:lnSpc>
                <a:spcPct val="112000"/>
              </a:lnSpc>
              <a:spcBef>
                <a:spcPts val="0"/>
              </a:spcBef>
              <a:spcAft>
                <a:spcPts val="200"/>
              </a:spcAft>
            </a:pPr>
            <a:r>
              <a:rPr sz="1100" b="1">
                <a:solidFill>
                  <a:srgbClr val="137D88"/>
                </a:solidFill>
                <a:latin typeface="Noto Sans CJK TC"/>
                <a:ea typeface="Noto Sans CJK TC"/>
                <a:cs typeface="Noto Sans CJK TC"/>
              </a:rPr>
              <a:t>G3與STAGE1</a:t>
            </a:r>
          </a:p>
        </p:txBody>
      </p:sp>
      <p:sp>
        <p:nvSpPr>
          <p:cNvPr id="4" name="TextBox 3"/>
          <p:cNvSpPr txBox="1"/>
          <p:nvPr/>
        </p:nvSpPr>
        <p:spPr>
          <a:xfrm>
            <a:off x="521207" y="630936"/>
            <a:ext cx="11119104" cy="923544"/>
          </a:xfrm>
          <a:prstGeom prst="rect">
            <a:avLst/>
          </a:prstGeom>
          <a:noFill/>
        </p:spPr>
        <p:txBody>
          <a:bodyPr wrap="square" lIns="13716" rIns="13716" tIns="9144" bIns="9144">
            <a:spAutoFit/>
          </a:bodyPr>
          <a:lstStyle/>
          <a:p>
            <a:pPr algn="l">
              <a:lnSpc>
                <a:spcPct val="112000"/>
              </a:lnSpc>
              <a:spcBef>
                <a:spcPts val="0"/>
              </a:spcBef>
              <a:spcAft>
                <a:spcPts val="200"/>
              </a:spcAft>
            </a:pPr>
            <a:r>
              <a:rPr sz="3100" b="1">
                <a:solidFill>
                  <a:srgbClr val="183247"/>
                </a:solidFill>
                <a:latin typeface="Noto Sans CJK TC"/>
                <a:ea typeface="Noto Sans CJK TC"/>
                <a:cs typeface="Noto Sans CJK TC"/>
              </a:rPr>
              <a:t>G3要在n09後另跑；S1選模與報分重疊須明記</a:t>
            </a:r>
          </a:p>
        </p:txBody>
      </p:sp>
      <p:cxnSp>
        <p:nvCxnSpPr>
          <p:cNvPr id="5" name="Connector 4"/>
          <p:cNvCxnSpPr/>
          <p:nvPr/>
        </p:nvCxnSpPr>
        <p:spPr>
          <a:xfrm>
            <a:off x="548640" y="1481328"/>
            <a:ext cx="11091672" cy="0"/>
          </a:xfrm>
          <a:prstGeom prst="line">
            <a:avLst/>
          </a:prstGeom>
          <a:ln w="16510">
            <a:solidFill>
              <a:srgbClr val="D9E2E7"/>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48640" y="5916168"/>
            <a:ext cx="11064240" cy="384048"/>
          </a:xfrm>
          <a:prstGeom prst="rect">
            <a:avLst/>
          </a:prstGeom>
          <a:solidFill>
            <a:srgbClr val="E6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943600"/>
            <a:ext cx="10789920" cy="310896"/>
          </a:xfrm>
          <a:prstGeom prst="rect">
            <a:avLst/>
          </a:prstGeom>
          <a:noFill/>
        </p:spPr>
        <p:txBody>
          <a:bodyPr wrap="square" lIns="13716" rIns="13716" tIns="9144" bIns="9144">
            <a:spAutoFit/>
          </a:bodyPr>
          <a:lstStyle/>
          <a:p>
            <a:pPr algn="l">
              <a:lnSpc>
                <a:spcPct val="112000"/>
              </a:lnSpc>
              <a:spcBef>
                <a:spcPts val="0"/>
              </a:spcBef>
              <a:spcAft>
                <a:spcPts val="200"/>
              </a:spcAft>
            </a:pPr>
            <a:r>
              <a:rPr sz="1700" b="1">
                <a:solidFill>
                  <a:srgbClr val="137D88"/>
                </a:solidFill>
                <a:latin typeface="Noto Sans CJK TC"/>
                <a:ea typeface="Noto Sans CJK TC"/>
                <a:cs typeface="Noto Sans CJK TC"/>
              </a:rPr>
              <a:t>Stable部分PASS不是paper PASS；A20與B也不是相同query。</a:t>
            </a:r>
          </a:p>
        </p:txBody>
      </p:sp>
      <p:sp>
        <p:nvSpPr>
          <p:cNvPr id="8" name="TextBox 7">
            <a:hlinkClick r:id="rId2"/>
          </p:cNvPr>
          <p:cNvSpPr txBox="1"/>
          <p:nvPr/>
        </p:nvSpPr>
        <p:spPr>
          <a:xfrm>
            <a:off x="548640" y="6473952"/>
            <a:ext cx="10149840" cy="182880"/>
          </a:xfrm>
          <a:prstGeom prst="rect">
            <a:avLst/>
          </a:prstGeom>
          <a:noFill/>
        </p:spPr>
        <p:txBody>
          <a:bodyPr wrap="square" lIns="13716" rIns="13716" tIns="9144" bIns="9144">
            <a:spAutoFit/>
          </a:bodyPr>
          <a:lstStyle/>
          <a:p>
            <a:pPr algn="l">
              <a:lnSpc>
                <a:spcPct val="112000"/>
              </a:lnSpc>
              <a:spcBef>
                <a:spcPts val="0"/>
              </a:spcBef>
              <a:spcAft>
                <a:spcPts val="200"/>
              </a:spcAft>
            </a:pPr>
            <a:r>
              <a:rPr sz="819" b="0">
                <a:solidFill>
                  <a:srgbClr val="657A88"/>
                </a:solidFill>
                <a:latin typeface="Noto Sans CJK TC"/>
                <a:ea typeface="Noto Sans CJK TC"/>
                <a:cs typeface="Noto Sans CJK TC"/>
              </a:rPr>
              <a:t>來源：Notion §6、§7.1–7.2；[最終發布版](output/validation/corpus_guard_20260908/notion_table1_stage2_published.md:410)</a:t>
            </a:r>
          </a:p>
        </p:txBody>
      </p:sp>
      <p:sp>
        <p:nvSpPr>
          <p:cNvPr id="9" name="TextBox 8"/>
          <p:cNvSpPr txBox="1"/>
          <p:nvPr/>
        </p:nvSpPr>
        <p:spPr>
          <a:xfrm>
            <a:off x="10771632" y="6446520"/>
            <a:ext cx="850392" cy="237744"/>
          </a:xfrm>
          <a:prstGeom prst="rect">
            <a:avLst/>
          </a:prstGeom>
          <a:noFill/>
        </p:spPr>
        <p:txBody>
          <a:bodyPr wrap="square" lIns="13716" rIns="13716" tIns="9144" bIns="9144">
            <a:spAutoFit/>
          </a:bodyPr>
          <a:lstStyle/>
          <a:p>
            <a:pPr algn="r">
              <a:lnSpc>
                <a:spcPct val="112000"/>
              </a:lnSpc>
              <a:spcBef>
                <a:spcPts val="0"/>
              </a:spcBef>
              <a:spcAft>
                <a:spcPts val="200"/>
              </a:spcAft>
            </a:pPr>
            <a:r>
              <a:rPr sz="1100" b="0">
                <a:solidFill>
                  <a:srgbClr val="657A88"/>
                </a:solidFill>
                <a:latin typeface="Noto Sans CJK TC"/>
                <a:ea typeface="Noto Sans CJK TC"/>
                <a:cs typeface="Noto Sans CJK TC"/>
              </a:rPr>
              <a:t>07 / 10</a:t>
            </a:r>
          </a:p>
        </p:txBody>
      </p:sp>
      <p:sp>
        <p:nvSpPr>
          <p:cNvPr id="10" name="TextBox 9"/>
          <p:cNvSpPr txBox="1"/>
          <p:nvPr/>
        </p:nvSpPr>
        <p:spPr>
          <a:xfrm>
            <a:off x="667512" y="1691640"/>
            <a:ext cx="10607040" cy="32918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舊穩定 corpus 的部分 preflight：M = A + Q + E</a:t>
            </a:r>
          </a:p>
        </p:txBody>
      </p:sp>
      <p:sp>
        <p:nvSpPr>
          <p:cNvPr id="11" name="Rounded Rectangle 10"/>
          <p:cNvSpPr/>
          <p:nvPr/>
        </p:nvSpPr>
        <p:spPr>
          <a:xfrm>
            <a:off x="566928" y="2139696"/>
            <a:ext cx="3529584" cy="987552"/>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240280"/>
            <a:ext cx="3236976" cy="265176"/>
          </a:xfrm>
          <a:prstGeom prst="rect">
            <a:avLst/>
          </a:prstGeom>
          <a:noFill/>
        </p:spPr>
        <p:txBody>
          <a:bodyPr wrap="square" lIns="13716" rIns="13716" tIns="9144" bIns="9144">
            <a:spAutoFit/>
          </a:bodyPr>
          <a:lstStyle/>
          <a:p>
            <a:pPr algn="l">
              <a:lnSpc>
                <a:spcPct val="112000"/>
              </a:lnSpc>
              <a:spcBef>
                <a:spcPts val="0"/>
              </a:spcBef>
              <a:spcAft>
                <a:spcPts val="200"/>
              </a:spcAft>
            </a:pPr>
            <a:r>
              <a:rPr sz="1300" b="0">
                <a:solidFill>
                  <a:srgbClr val="657A88"/>
                </a:solidFill>
                <a:latin typeface="Noto Sans CJK TC"/>
                <a:ea typeface="Noto Sans CJK TC"/>
                <a:cs typeface="Noto Sans CJK TC"/>
              </a:rPr>
              <a:t>A  admitted</a:t>
            </a:r>
          </a:p>
        </p:txBody>
      </p:sp>
      <p:sp>
        <p:nvSpPr>
          <p:cNvPr id="13" name="TextBox 12"/>
          <p:cNvSpPr txBox="1"/>
          <p:nvPr/>
        </p:nvSpPr>
        <p:spPr>
          <a:xfrm>
            <a:off x="713232" y="2578608"/>
            <a:ext cx="3236976" cy="429768"/>
          </a:xfrm>
          <a:prstGeom prst="rect">
            <a:avLst/>
          </a:prstGeom>
          <a:noFill/>
        </p:spPr>
        <p:txBody>
          <a:bodyPr wrap="square" lIns="13716" rIns="13716" tIns="9144" bIns="9144">
            <a:spAutoFit/>
          </a:bodyPr>
          <a:lstStyle/>
          <a:p>
            <a:pPr algn="l">
              <a:lnSpc>
                <a:spcPct val="112000"/>
              </a:lnSpc>
              <a:spcBef>
                <a:spcPts val="0"/>
              </a:spcBef>
              <a:spcAft>
                <a:spcPts val="200"/>
              </a:spcAft>
            </a:pPr>
            <a:r>
              <a:rPr sz="2800" b="1">
                <a:solidFill>
                  <a:srgbClr val="183247"/>
                </a:solidFill>
                <a:latin typeface="Noto Sans CJK TC"/>
                <a:ea typeface="Noto Sans CJK TC"/>
                <a:cs typeface="Noto Sans CJK TC"/>
              </a:rPr>
              <a:t>45,692</a:t>
            </a:r>
          </a:p>
        </p:txBody>
      </p:sp>
      <p:sp>
        <p:nvSpPr>
          <p:cNvPr id="14" name="Rounded Rectangle 13"/>
          <p:cNvSpPr/>
          <p:nvPr/>
        </p:nvSpPr>
        <p:spPr>
          <a:xfrm>
            <a:off x="4334256" y="2139696"/>
            <a:ext cx="3529584" cy="987552"/>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240280"/>
            <a:ext cx="3236976" cy="265176"/>
          </a:xfrm>
          <a:prstGeom prst="rect">
            <a:avLst/>
          </a:prstGeom>
          <a:noFill/>
        </p:spPr>
        <p:txBody>
          <a:bodyPr wrap="square" lIns="13716" rIns="13716" tIns="9144" bIns="9144">
            <a:spAutoFit/>
          </a:bodyPr>
          <a:lstStyle/>
          <a:p>
            <a:pPr algn="l">
              <a:lnSpc>
                <a:spcPct val="112000"/>
              </a:lnSpc>
              <a:spcBef>
                <a:spcPts val="0"/>
              </a:spcBef>
              <a:spcAft>
                <a:spcPts val="200"/>
              </a:spcAft>
            </a:pPr>
            <a:r>
              <a:rPr sz="1300" b="0">
                <a:solidFill>
                  <a:srgbClr val="657A88"/>
                </a:solidFill>
                <a:latin typeface="Noto Sans CJK TC"/>
                <a:ea typeface="Noto Sans CJK TC"/>
                <a:cs typeface="Noto Sans CJK TC"/>
              </a:rPr>
              <a:t>Q  真實失敗</a:t>
            </a:r>
          </a:p>
        </p:txBody>
      </p:sp>
      <p:sp>
        <p:nvSpPr>
          <p:cNvPr id="16" name="TextBox 15"/>
          <p:cNvSpPr txBox="1"/>
          <p:nvPr/>
        </p:nvSpPr>
        <p:spPr>
          <a:xfrm>
            <a:off x="4480560" y="2578608"/>
            <a:ext cx="3236976" cy="429768"/>
          </a:xfrm>
          <a:prstGeom prst="rect">
            <a:avLst/>
          </a:prstGeom>
          <a:noFill/>
        </p:spPr>
        <p:txBody>
          <a:bodyPr wrap="square" lIns="13716" rIns="13716" tIns="9144" bIns="9144">
            <a:spAutoFit/>
          </a:bodyPr>
          <a:lstStyle/>
          <a:p>
            <a:pPr algn="l">
              <a:lnSpc>
                <a:spcPct val="112000"/>
              </a:lnSpc>
              <a:spcBef>
                <a:spcPts val="0"/>
              </a:spcBef>
              <a:spcAft>
                <a:spcPts val="200"/>
              </a:spcAft>
            </a:pPr>
            <a:r>
              <a:rPr sz="2800" b="1">
                <a:solidFill>
                  <a:srgbClr val="183247"/>
                </a:solidFill>
                <a:latin typeface="Noto Sans CJK TC"/>
                <a:ea typeface="Noto Sans CJK TC"/>
                <a:cs typeface="Noto Sans CJK TC"/>
              </a:rPr>
              <a:t>339</a:t>
            </a:r>
          </a:p>
        </p:txBody>
      </p:sp>
      <p:sp>
        <p:nvSpPr>
          <p:cNvPr id="17" name="Rounded Rectangle 16"/>
          <p:cNvSpPr/>
          <p:nvPr/>
        </p:nvSpPr>
        <p:spPr>
          <a:xfrm>
            <a:off x="8101583" y="2139696"/>
            <a:ext cx="3529584" cy="987552"/>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240280"/>
            <a:ext cx="3236976" cy="265176"/>
          </a:xfrm>
          <a:prstGeom prst="rect">
            <a:avLst/>
          </a:prstGeom>
          <a:noFill/>
        </p:spPr>
        <p:txBody>
          <a:bodyPr wrap="square" lIns="13716" rIns="13716" tIns="9144" bIns="9144">
            <a:spAutoFit/>
          </a:bodyPr>
          <a:lstStyle/>
          <a:p>
            <a:pPr algn="l">
              <a:lnSpc>
                <a:spcPct val="112000"/>
              </a:lnSpc>
              <a:spcBef>
                <a:spcPts val="0"/>
              </a:spcBef>
              <a:spcAft>
                <a:spcPts val="200"/>
              </a:spcAft>
            </a:pPr>
            <a:r>
              <a:rPr sz="1300" b="0">
                <a:solidFill>
                  <a:srgbClr val="657A88"/>
                </a:solidFill>
                <a:latin typeface="Noto Sans CJK TC"/>
                <a:ea typeface="Noto Sans CJK TC"/>
                <a:cs typeface="Noto Sans CJK TC"/>
              </a:rPr>
              <a:t>E  人工排除</a:t>
            </a:r>
          </a:p>
        </p:txBody>
      </p:sp>
      <p:sp>
        <p:nvSpPr>
          <p:cNvPr id="19" name="TextBox 18"/>
          <p:cNvSpPr txBox="1"/>
          <p:nvPr/>
        </p:nvSpPr>
        <p:spPr>
          <a:xfrm>
            <a:off x="8247888" y="2578608"/>
            <a:ext cx="3236976" cy="429768"/>
          </a:xfrm>
          <a:prstGeom prst="rect">
            <a:avLst/>
          </a:prstGeom>
          <a:noFill/>
        </p:spPr>
        <p:txBody>
          <a:bodyPr wrap="square" lIns="13716" rIns="13716" tIns="9144" bIns="9144">
            <a:spAutoFit/>
          </a:bodyPr>
          <a:lstStyle/>
          <a:p>
            <a:pPr algn="l">
              <a:lnSpc>
                <a:spcPct val="112000"/>
              </a:lnSpc>
              <a:spcBef>
                <a:spcPts val="0"/>
              </a:spcBef>
              <a:spcAft>
                <a:spcPts val="200"/>
              </a:spcAft>
            </a:pPr>
            <a:r>
              <a:rPr sz="2800" b="1">
                <a:solidFill>
                  <a:srgbClr val="183247"/>
                </a:solidFill>
                <a:latin typeface="Noto Sans CJK TC"/>
                <a:ea typeface="Noto Sans CJK TC"/>
                <a:cs typeface="Noto Sans CJK TC"/>
              </a:rPr>
              <a:t>21</a:t>
            </a:r>
          </a:p>
        </p:txBody>
      </p:sp>
      <p:sp>
        <p:nvSpPr>
          <p:cNvPr id="20" name="TextBox 19"/>
          <p:cNvSpPr txBox="1"/>
          <p:nvPr/>
        </p:nvSpPr>
        <p:spPr>
          <a:xfrm>
            <a:off x="685800" y="3355848"/>
            <a:ext cx="10698480" cy="393192"/>
          </a:xfrm>
          <a:prstGeom prst="rect">
            <a:avLst/>
          </a:prstGeom>
          <a:noFill/>
        </p:spPr>
        <p:txBody>
          <a:bodyPr wrap="square" lIns="13716" rIns="13716" tIns="9144" bIns="9144">
            <a:spAutoFit/>
          </a:bodyPr>
          <a:lstStyle/>
          <a:p>
            <a:pPr algn="l">
              <a:lnSpc>
                <a:spcPct val="112000"/>
              </a:lnSpc>
              <a:spcBef>
                <a:spcPts val="0"/>
              </a:spcBef>
              <a:spcAft>
                <a:spcPts val="200"/>
              </a:spcAft>
            </a:pPr>
            <a:r>
              <a:rPr sz="1700" b="1">
                <a:solidFill>
                  <a:srgbClr val="183247"/>
                </a:solidFill>
                <a:latin typeface="Noto Sans CJK TC"/>
                <a:ea typeface="Noto Sans CJK TC"/>
                <a:cs typeface="Noto Sans CJK TC"/>
              </a:rPr>
              <a:t>原始 M＝46,052；2% 只計 Q/M。Paper 在製資料仍 BLOCKED。</a:t>
            </a:r>
          </a:p>
        </p:txBody>
      </p:sp>
      <p:sp>
        <p:nvSpPr>
          <p:cNvPr id="21" name="Rectangle 20"/>
          <p:cNvSpPr/>
          <p:nvPr/>
        </p:nvSpPr>
        <p:spPr>
          <a:xfrm>
            <a:off x="548640" y="4023360"/>
            <a:ext cx="4255476"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78224"/>
            <a:ext cx="4072596"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400" b="1">
                <a:solidFill>
                  <a:srgbClr val="FFFFFF"/>
                </a:solidFill>
                <a:latin typeface="Noto Sans CJK TC"/>
                <a:ea typeface="Noto Sans CJK TC"/>
                <a:cs typeface="Noto Sans CJK TC"/>
              </a:rPr>
              <a:t>目前chain的protocol</a:t>
            </a:r>
          </a:p>
        </p:txBody>
      </p:sp>
      <p:sp>
        <p:nvSpPr>
          <p:cNvPr id="23" name="Rectangle 22"/>
          <p:cNvSpPr/>
          <p:nvPr/>
        </p:nvSpPr>
        <p:spPr>
          <a:xfrm>
            <a:off x="4804116" y="4023360"/>
            <a:ext cx="3404381"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5556" y="4078224"/>
            <a:ext cx="3221501"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400" b="1">
                <a:solidFill>
                  <a:srgbClr val="FFFFFF"/>
                </a:solidFill>
                <a:latin typeface="Noto Sans CJK TC"/>
                <a:ea typeface="Noto Sans CJK TC"/>
                <a:cs typeface="Noto Sans CJK TC"/>
              </a:rPr>
              <a:t>Query</a:t>
            </a:r>
          </a:p>
        </p:txBody>
      </p:sp>
      <p:sp>
        <p:nvSpPr>
          <p:cNvPr id="25" name="Rectangle 24"/>
          <p:cNvSpPr/>
          <p:nvPr/>
        </p:nvSpPr>
        <p:spPr>
          <a:xfrm>
            <a:off x="8208498" y="4023360"/>
            <a:ext cx="3404381"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9938" y="4078224"/>
            <a:ext cx="3221501"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400" b="1">
                <a:solidFill>
                  <a:srgbClr val="FFFFFF"/>
                </a:solidFill>
                <a:latin typeface="Noto Sans CJK TC"/>
                <a:ea typeface="Noto Sans CJK TC"/>
                <a:cs typeface="Noto Sans CJK TC"/>
              </a:rPr>
              <a:t>Gallery</a:t>
            </a:r>
          </a:p>
        </p:txBody>
      </p:sp>
      <p:sp>
        <p:nvSpPr>
          <p:cNvPr id="27" name="Rectangle 26"/>
          <p:cNvSpPr/>
          <p:nvPr/>
        </p:nvSpPr>
        <p:spPr>
          <a:xfrm>
            <a:off x="548640" y="4517136"/>
            <a:ext cx="4255476" cy="39319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4572000"/>
            <a:ext cx="4072596" cy="301751"/>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400" b="1">
                <a:solidFill>
                  <a:srgbClr val="183247"/>
                </a:solidFill>
                <a:latin typeface="Noto Sans CJK TC"/>
                <a:ea typeface="Noto Sans CJK TC"/>
                <a:cs typeface="Noto Sans CJK TC"/>
              </a:rPr>
              <a:t>A20_holdout_vs_holdout</a:t>
            </a:r>
          </a:p>
        </p:txBody>
      </p:sp>
      <p:sp>
        <p:nvSpPr>
          <p:cNvPr id="29" name="Rectangle 28"/>
          <p:cNvSpPr/>
          <p:nvPr/>
        </p:nvSpPr>
        <p:spPr>
          <a:xfrm>
            <a:off x="4804116" y="4517136"/>
            <a:ext cx="3404381" cy="39319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95556" y="4572000"/>
            <a:ext cx="3221501" cy="301751"/>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400" b="0">
                <a:solidFill>
                  <a:srgbClr val="183247"/>
                </a:solidFill>
                <a:latin typeface="Noto Sans CJK TC"/>
                <a:ea typeface="Noto Sans CJK TC"/>
                <a:cs typeface="Noto Sans CJK TC"/>
              </a:rPr>
              <a:t>holdout＝val＋test</a:t>
            </a:r>
          </a:p>
        </p:txBody>
      </p:sp>
      <p:sp>
        <p:nvSpPr>
          <p:cNvPr id="31" name="Rectangle 30"/>
          <p:cNvSpPr/>
          <p:nvPr/>
        </p:nvSpPr>
        <p:spPr>
          <a:xfrm>
            <a:off x="8208498" y="4517136"/>
            <a:ext cx="3404381" cy="39319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99938" y="4572000"/>
            <a:ext cx="3221501" cy="301751"/>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400" b="0">
                <a:solidFill>
                  <a:srgbClr val="183247"/>
                </a:solidFill>
                <a:latin typeface="Noto Sans CJK TC"/>
                <a:ea typeface="Noto Sans CJK TC"/>
                <a:cs typeface="Noto Sans CJK TC"/>
              </a:rPr>
              <a:t>holdout</a:t>
            </a:r>
          </a:p>
        </p:txBody>
      </p:sp>
      <p:sp>
        <p:nvSpPr>
          <p:cNvPr id="33" name="Rectangle 32"/>
          <p:cNvSpPr/>
          <p:nvPr/>
        </p:nvSpPr>
        <p:spPr>
          <a:xfrm>
            <a:off x="548640" y="4910328"/>
            <a:ext cx="4255476" cy="393191"/>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965192"/>
            <a:ext cx="4072596" cy="301751"/>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400" b="1">
                <a:solidFill>
                  <a:srgbClr val="183247"/>
                </a:solidFill>
                <a:latin typeface="Noto Sans CJK TC"/>
                <a:ea typeface="Noto Sans CJK TC"/>
                <a:cs typeface="Noto Sans CJK TC"/>
              </a:rPr>
              <a:t>B_full_gallery</a:t>
            </a:r>
          </a:p>
        </p:txBody>
      </p:sp>
      <p:sp>
        <p:nvSpPr>
          <p:cNvPr id="35" name="Rectangle 34"/>
          <p:cNvSpPr/>
          <p:nvPr/>
        </p:nvSpPr>
        <p:spPr>
          <a:xfrm>
            <a:off x="4804116" y="4910328"/>
            <a:ext cx="3404381" cy="393191"/>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95556" y="4965192"/>
            <a:ext cx="3221501" cy="301751"/>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400" b="0">
                <a:solidFill>
                  <a:srgbClr val="183247"/>
                </a:solidFill>
                <a:latin typeface="Noto Sans CJK TC"/>
                <a:ea typeface="Noto Sans CJK TC"/>
                <a:cs typeface="Noto Sans CJK TC"/>
              </a:rPr>
              <a:t>test</a:t>
            </a:r>
          </a:p>
        </p:txBody>
      </p:sp>
      <p:sp>
        <p:nvSpPr>
          <p:cNvPr id="37" name="Rectangle 36"/>
          <p:cNvSpPr/>
          <p:nvPr/>
        </p:nvSpPr>
        <p:spPr>
          <a:xfrm>
            <a:off x="8208498" y="4910328"/>
            <a:ext cx="3404381" cy="393191"/>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99938" y="4965192"/>
            <a:ext cx="3221501" cy="301751"/>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400" b="0">
                <a:solidFill>
                  <a:srgbClr val="183247"/>
                </a:solidFill>
                <a:latin typeface="Noto Sans CJK TC"/>
                <a:ea typeface="Noto Sans CJK TC"/>
                <a:cs typeface="Noto Sans CJK TC"/>
              </a:rPr>
              <a:t>train＋val＋test</a:t>
            </a:r>
          </a:p>
        </p:txBody>
      </p:sp>
      <p:sp>
        <p:nvSpPr>
          <p:cNvPr id="39" name="TextBox 38"/>
          <p:cNvSpPr txBox="1"/>
          <p:nvPr/>
        </p:nvSpPr>
        <p:spPr>
          <a:xfrm>
            <a:off x="704088" y="5486400"/>
            <a:ext cx="10698480" cy="256032"/>
          </a:xfrm>
          <a:prstGeom prst="rect">
            <a:avLst/>
          </a:prstGeom>
          <a:noFill/>
        </p:spPr>
        <p:txBody>
          <a:bodyPr wrap="square" lIns="13716" rIns="13716" tIns="9144" bIns="9144">
            <a:spAutoFit/>
          </a:bodyPr>
          <a:lstStyle/>
          <a:p>
            <a:pPr algn="l">
              <a:lnSpc>
                <a:spcPct val="112000"/>
              </a:lnSpc>
              <a:spcBef>
                <a:spcPts val="0"/>
              </a:spcBef>
              <a:spcAft>
                <a:spcPts val="200"/>
              </a:spcAft>
            </a:pPr>
            <a:r>
              <a:rPr sz="1300" b="1">
                <a:solidFill>
                  <a:srgbClr val="CE663F"/>
                </a:solidFill>
                <a:latin typeface="Noto Sans CJK TC"/>
                <a:ea typeface="Noto Sans CJK TC"/>
                <a:cs typeface="Noto Sans CJK TC"/>
              </a:rPr>
              <a:t>本條 S1 使用整份 holdout 選模，已包含 test；G3 尚未接 live chain。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13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219456"/>
            <a:ext cx="10424160" cy="246888"/>
          </a:xfrm>
          <a:prstGeom prst="rect">
            <a:avLst/>
          </a:prstGeom>
          <a:noFill/>
        </p:spPr>
        <p:txBody>
          <a:bodyPr wrap="square" lIns="13716" rIns="13716" tIns="9144" bIns="9144">
            <a:spAutoFit/>
          </a:bodyPr>
          <a:lstStyle/>
          <a:p>
            <a:pPr algn="l">
              <a:lnSpc>
                <a:spcPct val="112000"/>
              </a:lnSpc>
              <a:spcBef>
                <a:spcPts val="0"/>
              </a:spcBef>
              <a:spcAft>
                <a:spcPts val="200"/>
              </a:spcAft>
            </a:pPr>
            <a:r>
              <a:rPr sz="1100" b="1">
                <a:solidFill>
                  <a:srgbClr val="137D88"/>
                </a:solidFill>
                <a:latin typeface="Noto Sans CJK TC"/>
                <a:ea typeface="Noto Sans CJK TC"/>
                <a:cs typeface="Noto Sans CJK TC"/>
              </a:rPr>
              <a:t>STAGE2</a:t>
            </a:r>
          </a:p>
        </p:txBody>
      </p:sp>
      <p:sp>
        <p:nvSpPr>
          <p:cNvPr id="4" name="TextBox 3"/>
          <p:cNvSpPr txBox="1"/>
          <p:nvPr/>
        </p:nvSpPr>
        <p:spPr>
          <a:xfrm>
            <a:off x="521207" y="630936"/>
            <a:ext cx="11119104" cy="923544"/>
          </a:xfrm>
          <a:prstGeom prst="rect">
            <a:avLst/>
          </a:prstGeom>
          <a:noFill/>
        </p:spPr>
        <p:txBody>
          <a:bodyPr wrap="square" lIns="13716" rIns="13716" tIns="9144" bIns="9144">
            <a:spAutoFit/>
          </a:bodyPr>
          <a:lstStyle/>
          <a:p>
            <a:pPr algn="l">
              <a:lnSpc>
                <a:spcPct val="112000"/>
              </a:lnSpc>
              <a:spcBef>
                <a:spcPts val="0"/>
              </a:spcBef>
              <a:spcAft>
                <a:spcPts val="200"/>
              </a:spcAft>
            </a:pPr>
            <a:r>
              <a:rPr sz="3100" b="1">
                <a:solidFill>
                  <a:srgbClr val="183247"/>
                </a:solidFill>
                <a:latin typeface="Noto Sans CJK TC"/>
                <a:ea typeface="Noto Sans CJK TC"/>
                <a:cs typeface="Noto Sans CJK TC"/>
              </a:rPr>
              <a:t>先接好場景資料，再驗真正的S2更新</a:t>
            </a:r>
          </a:p>
        </p:txBody>
      </p:sp>
      <p:cxnSp>
        <p:nvCxnSpPr>
          <p:cNvPr id="5" name="Connector 4"/>
          <p:cNvCxnSpPr/>
          <p:nvPr/>
        </p:nvCxnSpPr>
        <p:spPr>
          <a:xfrm>
            <a:off x="548640" y="1481328"/>
            <a:ext cx="11091672" cy="0"/>
          </a:xfrm>
          <a:prstGeom prst="line">
            <a:avLst/>
          </a:prstGeom>
          <a:ln w="16510">
            <a:solidFill>
              <a:srgbClr val="D9E2E7"/>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48640" y="5916168"/>
            <a:ext cx="11064240" cy="384048"/>
          </a:xfrm>
          <a:prstGeom prst="rect">
            <a:avLst/>
          </a:prstGeom>
          <a:solidFill>
            <a:srgbClr val="E6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943600"/>
            <a:ext cx="10789920" cy="310896"/>
          </a:xfrm>
          <a:prstGeom prst="rect">
            <a:avLst/>
          </a:prstGeom>
          <a:noFill/>
        </p:spPr>
        <p:txBody>
          <a:bodyPr wrap="square" lIns="13716" rIns="13716" tIns="9144" bIns="9144">
            <a:spAutoFit/>
          </a:bodyPr>
          <a:lstStyle/>
          <a:p>
            <a:pPr algn="l">
              <a:lnSpc>
                <a:spcPct val="112000"/>
              </a:lnSpc>
              <a:spcBef>
                <a:spcPts val="0"/>
              </a:spcBef>
              <a:spcAft>
                <a:spcPts val="200"/>
              </a:spcAft>
            </a:pPr>
            <a:r>
              <a:rPr sz="1500" b="1">
                <a:solidFill>
                  <a:srgbClr val="137D88"/>
                </a:solidFill>
                <a:latin typeface="Noto Sans CJK TC"/>
                <a:ea typeface="Noto Sans CJK TC"/>
                <a:cs typeface="Noto Sans CJK TC"/>
              </a:rPr>
              <a:t>Room context＋text／image；凍結backbone／gallery，更新query fusion與ESSGNN。</a:t>
            </a:r>
          </a:p>
        </p:txBody>
      </p:sp>
      <p:sp>
        <p:nvSpPr>
          <p:cNvPr id="8" name="TextBox 7">
            <a:hlinkClick r:id="rId2"/>
          </p:cNvPr>
          <p:cNvSpPr txBox="1"/>
          <p:nvPr/>
        </p:nvSpPr>
        <p:spPr>
          <a:xfrm>
            <a:off x="548640" y="6473952"/>
            <a:ext cx="10149840" cy="182880"/>
          </a:xfrm>
          <a:prstGeom prst="rect">
            <a:avLst/>
          </a:prstGeom>
          <a:noFill/>
        </p:spPr>
        <p:txBody>
          <a:bodyPr wrap="square" lIns="13716" rIns="13716" tIns="9144" bIns="9144">
            <a:spAutoFit/>
          </a:bodyPr>
          <a:lstStyle/>
          <a:p>
            <a:pPr algn="l">
              <a:lnSpc>
                <a:spcPct val="112000"/>
              </a:lnSpc>
              <a:spcBef>
                <a:spcPts val="0"/>
              </a:spcBef>
              <a:spcAft>
                <a:spcPts val="200"/>
              </a:spcAft>
            </a:pPr>
            <a:r>
              <a:rPr sz="819" b="0">
                <a:solidFill>
                  <a:srgbClr val="657A88"/>
                </a:solidFill>
                <a:latin typeface="Noto Sans CJK TC"/>
                <a:ea typeface="Noto Sans CJK TC"/>
                <a:cs typeface="Noto Sans CJK TC"/>
              </a:rPr>
              <a:t>來源：Notion §8.1–8.2；[最終發布版](output/validation/corpus_guard_20260908/notion_table1_stage2_published.md:514)</a:t>
            </a:r>
          </a:p>
        </p:txBody>
      </p:sp>
      <p:sp>
        <p:nvSpPr>
          <p:cNvPr id="9" name="TextBox 8"/>
          <p:cNvSpPr txBox="1"/>
          <p:nvPr/>
        </p:nvSpPr>
        <p:spPr>
          <a:xfrm>
            <a:off x="10771632" y="6446520"/>
            <a:ext cx="850392" cy="237744"/>
          </a:xfrm>
          <a:prstGeom prst="rect">
            <a:avLst/>
          </a:prstGeom>
          <a:noFill/>
        </p:spPr>
        <p:txBody>
          <a:bodyPr wrap="square" lIns="13716" rIns="13716" tIns="9144" bIns="9144">
            <a:spAutoFit/>
          </a:bodyPr>
          <a:lstStyle/>
          <a:p>
            <a:pPr algn="r">
              <a:lnSpc>
                <a:spcPct val="112000"/>
              </a:lnSpc>
              <a:spcBef>
                <a:spcPts val="0"/>
              </a:spcBef>
              <a:spcAft>
                <a:spcPts val="200"/>
              </a:spcAft>
            </a:pPr>
            <a:r>
              <a:rPr sz="1100" b="0">
                <a:solidFill>
                  <a:srgbClr val="657A88"/>
                </a:solidFill>
                <a:latin typeface="Noto Sans CJK TC"/>
                <a:ea typeface="Noto Sans CJK TC"/>
                <a:cs typeface="Noto Sans CJK TC"/>
              </a:rPr>
              <a:t>08 / 10</a:t>
            </a:r>
          </a:p>
        </p:txBody>
      </p:sp>
      <p:sp>
        <p:nvSpPr>
          <p:cNvPr id="10" name="Rounded Rectangle 9"/>
          <p:cNvSpPr/>
          <p:nvPr/>
        </p:nvSpPr>
        <p:spPr>
          <a:xfrm>
            <a:off x="548640" y="1673352"/>
            <a:ext cx="11064240" cy="539496"/>
          </a:xfrm>
          <a:prstGeom prst="roundRect">
            <a:avLst>
              <a:gd name="adj" fmla="val 8000"/>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1773936"/>
            <a:ext cx="10698480" cy="310896"/>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FFFFFF"/>
                </a:solidFill>
                <a:latin typeface="Noto Sans CJK TC"/>
                <a:ea typeface="Noto Sans CJK TC"/>
                <a:cs typeface="Noto Sans CJK TC"/>
              </a:rPr>
              <a:t>LR 5e-5   ·   1 epoch   ·   batch 64   ·   τ 0.5   ·   scene dropout 0.3</a:t>
            </a:r>
          </a:p>
        </p:txBody>
      </p:sp>
      <p:sp>
        <p:nvSpPr>
          <p:cNvPr id="12" name="Rounded Rectangle 11"/>
          <p:cNvSpPr/>
          <p:nvPr/>
        </p:nvSpPr>
        <p:spPr>
          <a:xfrm>
            <a:off x="548640" y="2432304"/>
            <a:ext cx="3505200" cy="1303020"/>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542032"/>
            <a:ext cx="466344" cy="320040"/>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37D88"/>
                </a:solidFill>
                <a:latin typeface="Noto Sans CJK TC"/>
                <a:ea typeface="Noto Sans CJK TC"/>
                <a:cs typeface="Noto Sans CJK TC"/>
              </a:rPr>
              <a:t>01</a:t>
            </a:r>
          </a:p>
        </p:txBody>
      </p:sp>
      <p:sp>
        <p:nvSpPr>
          <p:cNvPr id="14" name="TextBox 13"/>
          <p:cNvSpPr txBox="1"/>
          <p:nvPr/>
        </p:nvSpPr>
        <p:spPr>
          <a:xfrm>
            <a:off x="1261872" y="2542032"/>
            <a:ext cx="2636520" cy="530352"/>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83247"/>
                </a:solidFill>
                <a:latin typeface="Noto Sans CJK TC"/>
                <a:ea typeface="Noto Sans CJK TC"/>
                <a:cs typeface="Noto Sans CJK TC"/>
              </a:rPr>
              <a:t>n07／n07b</a:t>
            </a:r>
          </a:p>
        </p:txBody>
      </p:sp>
      <p:sp>
        <p:nvSpPr>
          <p:cNvPr id="15" name="TextBox 14"/>
          <p:cNvSpPr txBox="1"/>
          <p:nvPr/>
        </p:nvSpPr>
        <p:spPr>
          <a:xfrm>
            <a:off x="685800" y="3182112"/>
            <a:ext cx="3230880" cy="466344"/>
          </a:xfrm>
          <a:prstGeom prst="rect">
            <a:avLst/>
          </a:prstGeom>
          <a:noFill/>
        </p:spPr>
        <p:txBody>
          <a:bodyPr wrap="square" lIns="13716" rIns="13716" tIns="9144" bIns="9144">
            <a:spAutoFit/>
          </a:bodyPr>
          <a:lstStyle/>
          <a:p>
            <a:pPr algn="l">
              <a:lnSpc>
                <a:spcPct val="112000"/>
              </a:lnSpc>
              <a:spcBef>
                <a:spcPts val="0"/>
              </a:spcBef>
              <a:spcAft>
                <a:spcPts val="200"/>
              </a:spcAft>
            </a:pPr>
            <a:r>
              <a:rPr sz="1350" b="0">
                <a:solidFill>
                  <a:srgbClr val="657A88"/>
                </a:solidFill>
                <a:latin typeface="Noto Sans CJK TC"/>
                <a:ea typeface="Noto Sans CJK TC"/>
                <a:cs typeface="Noto Sans CJK TC"/>
              </a:rPr>
              <a:t>房屋圖＋隔離資產影像</a:t>
            </a:r>
          </a:p>
        </p:txBody>
      </p:sp>
      <p:sp>
        <p:nvSpPr>
          <p:cNvPr id="16" name="TextBox 15"/>
          <p:cNvSpPr txBox="1"/>
          <p:nvPr/>
        </p:nvSpPr>
        <p:spPr>
          <a:xfrm>
            <a:off x="4072128" y="3072384"/>
            <a:ext cx="237744" cy="384048"/>
          </a:xfrm>
          <a:prstGeom prst="rect">
            <a:avLst/>
          </a:prstGeom>
          <a:noFill/>
        </p:spPr>
        <p:txBody>
          <a:bodyPr wrap="square" lIns="13716" rIns="13716" tIns="9144" bIns="9144">
            <a:spAutoFit/>
          </a:bodyPr>
          <a:lstStyle/>
          <a:p>
            <a:pPr algn="ctr">
              <a:lnSpc>
                <a:spcPct val="112000"/>
              </a:lnSpc>
              <a:spcBef>
                <a:spcPts val="0"/>
              </a:spcBef>
              <a:spcAft>
                <a:spcPts val="200"/>
              </a:spcAft>
            </a:pPr>
            <a:r>
              <a:rPr sz="2000" b="1">
                <a:solidFill>
                  <a:srgbClr val="137D88"/>
                </a:solidFill>
                <a:latin typeface="Noto Sans CJK TC"/>
                <a:ea typeface="Noto Sans CJK TC"/>
                <a:cs typeface="Noto Sans CJK TC"/>
              </a:rPr>
              <a:t>→</a:t>
            </a:r>
          </a:p>
        </p:txBody>
      </p:sp>
      <p:sp>
        <p:nvSpPr>
          <p:cNvPr id="17" name="Rounded Rectangle 16"/>
          <p:cNvSpPr/>
          <p:nvPr/>
        </p:nvSpPr>
        <p:spPr>
          <a:xfrm>
            <a:off x="4328160" y="2432304"/>
            <a:ext cx="3505200" cy="1303020"/>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5320" y="2542032"/>
            <a:ext cx="466344" cy="320040"/>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37D88"/>
                </a:solidFill>
                <a:latin typeface="Noto Sans CJK TC"/>
                <a:ea typeface="Noto Sans CJK TC"/>
                <a:cs typeface="Noto Sans CJK TC"/>
              </a:rPr>
              <a:t>02</a:t>
            </a:r>
          </a:p>
        </p:txBody>
      </p:sp>
      <p:sp>
        <p:nvSpPr>
          <p:cNvPr id="19" name="TextBox 18"/>
          <p:cNvSpPr txBox="1"/>
          <p:nvPr/>
        </p:nvSpPr>
        <p:spPr>
          <a:xfrm>
            <a:off x="5041392" y="2542032"/>
            <a:ext cx="2636520" cy="530352"/>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83247"/>
                </a:solidFill>
                <a:latin typeface="Noto Sans CJK TC"/>
                <a:ea typeface="Noto Sans CJK TC"/>
                <a:cs typeface="Noto Sans CJK TC"/>
              </a:rPr>
              <a:t>文字來源</a:t>
            </a:r>
          </a:p>
        </p:txBody>
      </p:sp>
      <p:sp>
        <p:nvSpPr>
          <p:cNvPr id="20" name="TextBox 19"/>
          <p:cNvSpPr txBox="1"/>
          <p:nvPr/>
        </p:nvSpPr>
        <p:spPr>
          <a:xfrm>
            <a:off x="4465320" y="3182112"/>
            <a:ext cx="3230880" cy="466344"/>
          </a:xfrm>
          <a:prstGeom prst="rect">
            <a:avLst/>
          </a:prstGeom>
          <a:noFill/>
        </p:spPr>
        <p:txBody>
          <a:bodyPr wrap="square" lIns="13716" rIns="13716" tIns="9144" bIns="9144">
            <a:spAutoFit/>
          </a:bodyPr>
          <a:lstStyle/>
          <a:p>
            <a:pPr algn="l">
              <a:lnSpc>
                <a:spcPct val="112000"/>
              </a:lnSpc>
              <a:spcBef>
                <a:spcPts val="0"/>
              </a:spcBef>
              <a:spcAft>
                <a:spcPts val="200"/>
              </a:spcAft>
            </a:pPr>
            <a:r>
              <a:rPr sz="1350" b="0">
                <a:solidFill>
                  <a:srgbClr val="657A88"/>
                </a:solidFill>
                <a:latin typeface="Noto Sans CJK TC"/>
                <a:ea typeface="Noto Sans CJK TC"/>
                <a:cs typeface="Noto Sans CJK TC"/>
              </a:rPr>
              <a:t>canonical v3_fit文字</a:t>
            </a:r>
          </a:p>
        </p:txBody>
      </p:sp>
      <p:sp>
        <p:nvSpPr>
          <p:cNvPr id="21" name="TextBox 20"/>
          <p:cNvSpPr txBox="1"/>
          <p:nvPr/>
        </p:nvSpPr>
        <p:spPr>
          <a:xfrm>
            <a:off x="7851647" y="3072384"/>
            <a:ext cx="237744" cy="384048"/>
          </a:xfrm>
          <a:prstGeom prst="rect">
            <a:avLst/>
          </a:prstGeom>
          <a:noFill/>
        </p:spPr>
        <p:txBody>
          <a:bodyPr wrap="square" lIns="13716" rIns="13716" tIns="9144" bIns="9144">
            <a:spAutoFit/>
          </a:bodyPr>
          <a:lstStyle/>
          <a:p>
            <a:pPr algn="ctr">
              <a:lnSpc>
                <a:spcPct val="112000"/>
              </a:lnSpc>
              <a:spcBef>
                <a:spcPts val="0"/>
              </a:spcBef>
              <a:spcAft>
                <a:spcPts val="200"/>
              </a:spcAft>
            </a:pPr>
            <a:r>
              <a:rPr sz="2000" b="1">
                <a:solidFill>
                  <a:srgbClr val="137D88"/>
                </a:solidFill>
                <a:latin typeface="Noto Sans CJK TC"/>
                <a:ea typeface="Noto Sans CJK TC"/>
                <a:cs typeface="Noto Sans CJK TC"/>
              </a:rPr>
              <a:t>→</a:t>
            </a:r>
          </a:p>
        </p:txBody>
      </p:sp>
      <p:sp>
        <p:nvSpPr>
          <p:cNvPr id="22" name="Rounded Rectangle 21"/>
          <p:cNvSpPr/>
          <p:nvPr/>
        </p:nvSpPr>
        <p:spPr>
          <a:xfrm>
            <a:off x="8107680" y="2432304"/>
            <a:ext cx="3505200" cy="1303020"/>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44840" y="2542032"/>
            <a:ext cx="466344" cy="320040"/>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37D88"/>
                </a:solidFill>
                <a:latin typeface="Noto Sans CJK TC"/>
                <a:ea typeface="Noto Sans CJK TC"/>
                <a:cs typeface="Noto Sans CJK TC"/>
              </a:rPr>
              <a:t>03</a:t>
            </a:r>
          </a:p>
        </p:txBody>
      </p:sp>
      <p:sp>
        <p:nvSpPr>
          <p:cNvPr id="24" name="TextBox 23"/>
          <p:cNvSpPr txBox="1"/>
          <p:nvPr/>
        </p:nvSpPr>
        <p:spPr>
          <a:xfrm>
            <a:off x="8820912" y="2542032"/>
            <a:ext cx="2636520" cy="530352"/>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83247"/>
                </a:solidFill>
                <a:latin typeface="Noto Sans CJK TC"/>
                <a:ea typeface="Noto Sans CJK TC"/>
                <a:cs typeface="Noto Sans CJK TC"/>
              </a:rPr>
              <a:t>Protocols＋n08</a:t>
            </a:r>
          </a:p>
        </p:txBody>
      </p:sp>
      <p:sp>
        <p:nvSpPr>
          <p:cNvPr id="25" name="TextBox 24"/>
          <p:cNvSpPr txBox="1"/>
          <p:nvPr/>
        </p:nvSpPr>
        <p:spPr>
          <a:xfrm>
            <a:off x="8244840" y="3182112"/>
            <a:ext cx="3230880" cy="466344"/>
          </a:xfrm>
          <a:prstGeom prst="rect">
            <a:avLst/>
          </a:prstGeom>
          <a:noFill/>
        </p:spPr>
        <p:txBody>
          <a:bodyPr wrap="square" lIns="13716" rIns="13716" tIns="9144" bIns="9144">
            <a:spAutoFit/>
          </a:bodyPr>
          <a:lstStyle/>
          <a:p>
            <a:pPr algn="l">
              <a:lnSpc>
                <a:spcPct val="112000"/>
              </a:lnSpc>
              <a:spcBef>
                <a:spcPts val="0"/>
              </a:spcBef>
              <a:spcAft>
                <a:spcPts val="200"/>
              </a:spcAft>
            </a:pPr>
            <a:r>
              <a:rPr sz="1350" b="0">
                <a:solidFill>
                  <a:srgbClr val="657A88"/>
                </a:solidFill>
                <a:latin typeface="Noto Sans CJK TC"/>
                <a:ea typeface="Noto Sans CJK TC"/>
                <a:cs typeface="Noto Sans CJK TC"/>
              </a:rPr>
              <a:t>room／node／edge身分</a:t>
            </a:r>
          </a:p>
        </p:txBody>
      </p:sp>
      <p:sp>
        <p:nvSpPr>
          <p:cNvPr id="26" name="Rounded Rectangle 25"/>
          <p:cNvSpPr/>
          <p:nvPr/>
        </p:nvSpPr>
        <p:spPr>
          <a:xfrm>
            <a:off x="548640" y="4101084"/>
            <a:ext cx="3505200" cy="1303020"/>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210812"/>
            <a:ext cx="466344" cy="320040"/>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37D88"/>
                </a:solidFill>
                <a:latin typeface="Noto Sans CJK TC"/>
                <a:ea typeface="Noto Sans CJK TC"/>
                <a:cs typeface="Noto Sans CJK TC"/>
              </a:rPr>
              <a:t>04</a:t>
            </a:r>
          </a:p>
        </p:txBody>
      </p:sp>
      <p:sp>
        <p:nvSpPr>
          <p:cNvPr id="28" name="TextBox 27"/>
          <p:cNvSpPr txBox="1"/>
          <p:nvPr/>
        </p:nvSpPr>
        <p:spPr>
          <a:xfrm>
            <a:off x="1261872" y="4210812"/>
            <a:ext cx="2636520" cy="530352"/>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83247"/>
                </a:solidFill>
                <a:latin typeface="Noto Sans CJK TC"/>
                <a:ea typeface="Noto Sans CJK TC"/>
                <a:cs typeface="Noto Sans CJK TC"/>
              </a:rPr>
              <a:t>n09c</a:t>
            </a:r>
          </a:p>
        </p:txBody>
      </p:sp>
      <p:sp>
        <p:nvSpPr>
          <p:cNvPr id="29" name="TextBox 28"/>
          <p:cNvSpPr txBox="1"/>
          <p:nvPr/>
        </p:nvSpPr>
        <p:spPr>
          <a:xfrm>
            <a:off x="685800" y="4850892"/>
            <a:ext cx="3230880" cy="466344"/>
          </a:xfrm>
          <a:prstGeom prst="rect">
            <a:avLst/>
          </a:prstGeom>
          <a:noFill/>
        </p:spPr>
        <p:txBody>
          <a:bodyPr wrap="square" lIns="13716" rIns="13716" tIns="9144" bIns="9144">
            <a:spAutoFit/>
          </a:bodyPr>
          <a:lstStyle/>
          <a:p>
            <a:pPr algn="l">
              <a:lnSpc>
                <a:spcPct val="112000"/>
              </a:lnSpc>
              <a:spcBef>
                <a:spcPts val="0"/>
              </a:spcBef>
              <a:spcAft>
                <a:spcPts val="200"/>
              </a:spcAft>
            </a:pPr>
            <a:r>
              <a:rPr sz="1350" b="0">
                <a:solidFill>
                  <a:srgbClr val="657A88"/>
                </a:solidFill>
                <a:latin typeface="Noto Sans CJK TC"/>
                <a:ea typeface="Noto Sans CJK TC"/>
                <a:cs typeface="Noto Sans CJK TC"/>
              </a:rPr>
              <a:t>house splits／coverage</a:t>
            </a:r>
          </a:p>
        </p:txBody>
      </p:sp>
      <p:sp>
        <p:nvSpPr>
          <p:cNvPr id="30" name="TextBox 29"/>
          <p:cNvSpPr txBox="1"/>
          <p:nvPr/>
        </p:nvSpPr>
        <p:spPr>
          <a:xfrm>
            <a:off x="4072128" y="4741164"/>
            <a:ext cx="237744" cy="384048"/>
          </a:xfrm>
          <a:prstGeom prst="rect">
            <a:avLst/>
          </a:prstGeom>
          <a:noFill/>
        </p:spPr>
        <p:txBody>
          <a:bodyPr wrap="square" lIns="13716" rIns="13716" tIns="9144" bIns="9144">
            <a:spAutoFit/>
          </a:bodyPr>
          <a:lstStyle/>
          <a:p>
            <a:pPr algn="ctr">
              <a:lnSpc>
                <a:spcPct val="112000"/>
              </a:lnSpc>
              <a:spcBef>
                <a:spcPts val="0"/>
              </a:spcBef>
              <a:spcAft>
                <a:spcPts val="200"/>
              </a:spcAft>
            </a:pPr>
            <a:r>
              <a:rPr sz="2000" b="1">
                <a:solidFill>
                  <a:srgbClr val="137D88"/>
                </a:solidFill>
                <a:latin typeface="Noto Sans CJK TC"/>
                <a:ea typeface="Noto Sans CJK TC"/>
                <a:cs typeface="Noto Sans CJK TC"/>
              </a:rPr>
              <a:t>→</a:t>
            </a:r>
          </a:p>
        </p:txBody>
      </p:sp>
      <p:sp>
        <p:nvSpPr>
          <p:cNvPr id="31" name="Rounded Rectangle 30"/>
          <p:cNvSpPr/>
          <p:nvPr/>
        </p:nvSpPr>
        <p:spPr>
          <a:xfrm>
            <a:off x="4328160" y="4101084"/>
            <a:ext cx="3505200" cy="1303020"/>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65320" y="4210812"/>
            <a:ext cx="466344" cy="320040"/>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37D88"/>
                </a:solidFill>
                <a:latin typeface="Noto Sans CJK TC"/>
                <a:ea typeface="Noto Sans CJK TC"/>
                <a:cs typeface="Noto Sans CJK TC"/>
              </a:rPr>
              <a:t>05</a:t>
            </a:r>
          </a:p>
        </p:txBody>
      </p:sp>
      <p:sp>
        <p:nvSpPr>
          <p:cNvPr id="33" name="TextBox 32"/>
          <p:cNvSpPr txBox="1"/>
          <p:nvPr/>
        </p:nvSpPr>
        <p:spPr>
          <a:xfrm>
            <a:off x="5041392" y="4210812"/>
            <a:ext cx="2636520" cy="530352"/>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83247"/>
                </a:solidFill>
                <a:latin typeface="Noto Sans CJK TC"/>
                <a:ea typeface="Noto Sans CJK TC"/>
                <a:cs typeface="Noto Sans CJK TC"/>
              </a:rPr>
              <a:t>n11b</a:t>
            </a:r>
          </a:p>
        </p:txBody>
      </p:sp>
      <p:sp>
        <p:nvSpPr>
          <p:cNvPr id="34" name="TextBox 33"/>
          <p:cNvSpPr txBox="1"/>
          <p:nvPr/>
        </p:nvSpPr>
        <p:spPr>
          <a:xfrm>
            <a:off x="4465320" y="4850892"/>
            <a:ext cx="3230880" cy="466344"/>
          </a:xfrm>
          <a:prstGeom prst="rect">
            <a:avLst/>
          </a:prstGeom>
          <a:noFill/>
        </p:spPr>
        <p:txBody>
          <a:bodyPr wrap="square" lIns="13716" rIns="13716" tIns="9144" bIns="9144">
            <a:spAutoFit/>
          </a:bodyPr>
          <a:lstStyle/>
          <a:p>
            <a:pPr algn="l">
              <a:lnSpc>
                <a:spcPct val="112000"/>
              </a:lnSpc>
              <a:spcBef>
                <a:spcPts val="0"/>
              </a:spcBef>
              <a:spcAft>
                <a:spcPts val="200"/>
              </a:spcAft>
            </a:pPr>
            <a:r>
              <a:rPr sz="1350" b="0">
                <a:solidFill>
                  <a:srgbClr val="657A88"/>
                </a:solidFill>
                <a:latin typeface="Noto Sans CJK TC"/>
                <a:ea typeface="Noto Sans CJK TC"/>
                <a:cs typeface="Noto Sans CJK TC"/>
              </a:rPr>
              <a:t>gallery＋raw vectors</a:t>
            </a:r>
          </a:p>
        </p:txBody>
      </p:sp>
      <p:sp>
        <p:nvSpPr>
          <p:cNvPr id="35" name="TextBox 34"/>
          <p:cNvSpPr txBox="1"/>
          <p:nvPr/>
        </p:nvSpPr>
        <p:spPr>
          <a:xfrm>
            <a:off x="7851647" y="4741164"/>
            <a:ext cx="237744" cy="384048"/>
          </a:xfrm>
          <a:prstGeom prst="rect">
            <a:avLst/>
          </a:prstGeom>
          <a:noFill/>
        </p:spPr>
        <p:txBody>
          <a:bodyPr wrap="square" lIns="13716" rIns="13716" tIns="9144" bIns="9144">
            <a:spAutoFit/>
          </a:bodyPr>
          <a:lstStyle/>
          <a:p>
            <a:pPr algn="ctr">
              <a:lnSpc>
                <a:spcPct val="112000"/>
              </a:lnSpc>
              <a:spcBef>
                <a:spcPts val="0"/>
              </a:spcBef>
              <a:spcAft>
                <a:spcPts val="200"/>
              </a:spcAft>
            </a:pPr>
            <a:r>
              <a:rPr sz="2000" b="1">
                <a:solidFill>
                  <a:srgbClr val="137D88"/>
                </a:solidFill>
                <a:latin typeface="Noto Sans CJK TC"/>
                <a:ea typeface="Noto Sans CJK TC"/>
                <a:cs typeface="Noto Sans CJK TC"/>
              </a:rPr>
              <a:t>→</a:t>
            </a:r>
          </a:p>
        </p:txBody>
      </p:sp>
      <p:sp>
        <p:nvSpPr>
          <p:cNvPr id="36" name="Rounded Rectangle 35"/>
          <p:cNvSpPr/>
          <p:nvPr/>
        </p:nvSpPr>
        <p:spPr>
          <a:xfrm>
            <a:off x="8107680" y="4101084"/>
            <a:ext cx="3505200" cy="1303020"/>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44840" y="4210812"/>
            <a:ext cx="466344" cy="320040"/>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37D88"/>
                </a:solidFill>
                <a:latin typeface="Noto Sans CJK TC"/>
                <a:ea typeface="Noto Sans CJK TC"/>
                <a:cs typeface="Noto Sans CJK TC"/>
              </a:rPr>
              <a:t>06</a:t>
            </a:r>
          </a:p>
        </p:txBody>
      </p:sp>
      <p:sp>
        <p:nvSpPr>
          <p:cNvPr id="38" name="TextBox 37"/>
          <p:cNvSpPr txBox="1"/>
          <p:nvPr/>
        </p:nvSpPr>
        <p:spPr>
          <a:xfrm>
            <a:off x="8820912" y="4210812"/>
            <a:ext cx="2636520" cy="530352"/>
          </a:xfrm>
          <a:prstGeom prst="rect">
            <a:avLst/>
          </a:prstGeom>
          <a:noFill/>
        </p:spPr>
        <p:txBody>
          <a:bodyPr wrap="square" lIns="13716" rIns="13716" tIns="9144" bIns="9144">
            <a:spAutoFit/>
          </a:bodyPr>
          <a:lstStyle/>
          <a:p>
            <a:pPr algn="l">
              <a:lnSpc>
                <a:spcPct val="112000"/>
              </a:lnSpc>
              <a:spcBef>
                <a:spcPts val="0"/>
              </a:spcBef>
              <a:spcAft>
                <a:spcPts val="200"/>
              </a:spcAft>
            </a:pPr>
            <a:r>
              <a:rPr sz="1600" b="1">
                <a:solidFill>
                  <a:srgbClr val="183247"/>
                </a:solidFill>
                <a:latin typeface="Noto Sans CJK TC"/>
                <a:ea typeface="Noto Sans CJK TC"/>
                <a:cs typeface="Noto Sans CJK TC"/>
              </a:rPr>
              <a:t>n13 Stage2</a:t>
            </a:r>
          </a:p>
        </p:txBody>
      </p:sp>
      <p:sp>
        <p:nvSpPr>
          <p:cNvPr id="39" name="TextBox 38"/>
          <p:cNvSpPr txBox="1"/>
          <p:nvPr/>
        </p:nvSpPr>
        <p:spPr>
          <a:xfrm>
            <a:off x="8244840" y="4850892"/>
            <a:ext cx="3230880" cy="466344"/>
          </a:xfrm>
          <a:prstGeom prst="rect">
            <a:avLst/>
          </a:prstGeom>
          <a:noFill/>
        </p:spPr>
        <p:txBody>
          <a:bodyPr wrap="square" lIns="13716" rIns="13716" tIns="9144" bIns="9144">
            <a:spAutoFit/>
          </a:bodyPr>
          <a:lstStyle/>
          <a:p>
            <a:pPr algn="l">
              <a:lnSpc>
                <a:spcPct val="112000"/>
              </a:lnSpc>
              <a:spcBef>
                <a:spcPts val="0"/>
              </a:spcBef>
              <a:spcAft>
                <a:spcPts val="200"/>
              </a:spcAft>
            </a:pPr>
            <a:r>
              <a:rPr sz="1350" b="0">
                <a:solidFill>
                  <a:srgbClr val="657A88"/>
                </a:solidFill>
                <a:latin typeface="Noto Sans CJK TC"/>
                <a:ea typeface="Noto Sans CJK TC"/>
                <a:cs typeface="Noto Sans CJK TC"/>
              </a:rPr>
              <a:t>真更新＋bound checkpoint</a:t>
            </a:r>
          </a:p>
        </p:txBody>
      </p:sp>
      <p:sp>
        <p:nvSpPr>
          <p:cNvPr id="40" name="TextBox 39"/>
          <p:cNvSpPr txBox="1"/>
          <p:nvPr/>
        </p:nvSpPr>
        <p:spPr>
          <a:xfrm>
            <a:off x="640080" y="5660136"/>
            <a:ext cx="10789920" cy="219456"/>
          </a:xfrm>
          <a:prstGeom prst="rect">
            <a:avLst/>
          </a:prstGeom>
          <a:noFill/>
        </p:spPr>
        <p:txBody>
          <a:bodyPr wrap="square" lIns="13716" rIns="13716" tIns="9144" bIns="9144">
            <a:spAutoFit/>
          </a:bodyPr>
          <a:lstStyle/>
          <a:p>
            <a:pPr algn="l">
              <a:lnSpc>
                <a:spcPct val="112000"/>
              </a:lnSpc>
              <a:spcBef>
                <a:spcPts val="0"/>
              </a:spcBef>
              <a:spcAft>
                <a:spcPts val="200"/>
              </a:spcAft>
            </a:pPr>
            <a:r>
              <a:rPr sz="1100" b="0">
                <a:solidFill>
                  <a:srgbClr val="657A88"/>
                </a:solidFill>
                <a:latin typeface="Noto Sans CJK TC"/>
                <a:ea typeface="Noto Sans CJK TC"/>
                <a:cs typeface="Noto Sans CJK TC"/>
              </a:rPr>
              <a:t>當前只宣告T＋I；n08／n11b來源漂移拒絕，不替舊cache補標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13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219456"/>
            <a:ext cx="10424160" cy="246888"/>
          </a:xfrm>
          <a:prstGeom prst="rect">
            <a:avLst/>
          </a:prstGeom>
          <a:noFill/>
        </p:spPr>
        <p:txBody>
          <a:bodyPr wrap="square" lIns="13716" rIns="13716" tIns="9144" bIns="9144">
            <a:spAutoFit/>
          </a:bodyPr>
          <a:lstStyle/>
          <a:p>
            <a:pPr algn="l">
              <a:lnSpc>
                <a:spcPct val="112000"/>
              </a:lnSpc>
              <a:spcBef>
                <a:spcPts val="0"/>
              </a:spcBef>
              <a:spcAft>
                <a:spcPts val="200"/>
              </a:spcAft>
            </a:pPr>
            <a:r>
              <a:rPr sz="1100" b="1">
                <a:solidFill>
                  <a:srgbClr val="137D88"/>
                </a:solidFill>
                <a:latin typeface="Noto Sans CJK TC"/>
                <a:ea typeface="Noto Sans CJK TC"/>
                <a:cs typeface="Noto Sans CJK TC"/>
              </a:rPr>
              <a:t>分流與驗證</a:t>
            </a:r>
          </a:p>
        </p:txBody>
      </p:sp>
      <p:sp>
        <p:nvSpPr>
          <p:cNvPr id="4" name="TextBox 3"/>
          <p:cNvSpPr txBox="1"/>
          <p:nvPr/>
        </p:nvSpPr>
        <p:spPr>
          <a:xfrm>
            <a:off x="521207" y="630936"/>
            <a:ext cx="11119104" cy="923544"/>
          </a:xfrm>
          <a:prstGeom prst="rect">
            <a:avLst/>
          </a:prstGeom>
          <a:noFill/>
        </p:spPr>
        <p:txBody>
          <a:bodyPr wrap="square" lIns="13716" rIns="13716" tIns="9144" bIns="9144">
            <a:spAutoFit/>
          </a:bodyPr>
          <a:lstStyle/>
          <a:p>
            <a:pPr algn="l">
              <a:lnSpc>
                <a:spcPct val="112000"/>
              </a:lnSpc>
              <a:spcBef>
                <a:spcPts val="0"/>
              </a:spcBef>
              <a:spcAft>
                <a:spcPts val="200"/>
              </a:spcAft>
            </a:pPr>
            <a:r>
              <a:rPr sz="3100" b="1">
                <a:solidFill>
                  <a:srgbClr val="183247"/>
                </a:solidFill>
                <a:latin typeface="Noto Sans CJK TC"/>
                <a:ea typeface="Noto Sans CJK TC"/>
                <a:cs typeface="Noto Sans CJK TC"/>
              </a:rPr>
              <a:t>物件S2-off、場景S2-on、完整品質分開交付</a:t>
            </a:r>
          </a:p>
        </p:txBody>
      </p:sp>
      <p:cxnSp>
        <p:nvCxnSpPr>
          <p:cNvPr id="5" name="Connector 4"/>
          <p:cNvCxnSpPr/>
          <p:nvPr/>
        </p:nvCxnSpPr>
        <p:spPr>
          <a:xfrm>
            <a:off x="548640" y="1481328"/>
            <a:ext cx="11091672" cy="0"/>
          </a:xfrm>
          <a:prstGeom prst="line">
            <a:avLst/>
          </a:prstGeom>
          <a:ln w="16510">
            <a:solidFill>
              <a:srgbClr val="D9E2E7"/>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48640" y="5916168"/>
            <a:ext cx="11064240" cy="384048"/>
          </a:xfrm>
          <a:prstGeom prst="rect">
            <a:avLst/>
          </a:prstGeom>
          <a:solidFill>
            <a:srgbClr val="E6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943600"/>
            <a:ext cx="10789920" cy="310896"/>
          </a:xfrm>
          <a:prstGeom prst="rect">
            <a:avLst/>
          </a:prstGeom>
          <a:noFill/>
        </p:spPr>
        <p:txBody>
          <a:bodyPr wrap="square" lIns="13716" rIns="13716" tIns="9144" bIns="9144">
            <a:spAutoFit/>
          </a:bodyPr>
          <a:lstStyle/>
          <a:p>
            <a:pPr algn="l">
              <a:lnSpc>
                <a:spcPct val="112000"/>
              </a:lnSpc>
              <a:spcBef>
                <a:spcPts val="0"/>
              </a:spcBef>
              <a:spcAft>
                <a:spcPts val="200"/>
              </a:spcAft>
            </a:pPr>
            <a:r>
              <a:rPr sz="1700" b="1">
                <a:solidFill>
                  <a:srgbClr val="137D88"/>
                </a:solidFill>
                <a:latin typeface="Noto Sans CJK TC"/>
                <a:ea typeface="Noto Sans CJK TC"/>
                <a:cs typeface="Noto Sans CJK TC"/>
              </a:rPr>
              <a:t>42組小型真CPU已完成；單步／三slot／測試數量不等於正式復現。</a:t>
            </a:r>
          </a:p>
        </p:txBody>
      </p:sp>
      <p:sp>
        <p:nvSpPr>
          <p:cNvPr id="8" name="TextBox 7">
            <a:hlinkClick r:id="rId2"/>
          </p:cNvPr>
          <p:cNvSpPr txBox="1"/>
          <p:nvPr/>
        </p:nvSpPr>
        <p:spPr>
          <a:xfrm>
            <a:off x="548640" y="6473952"/>
            <a:ext cx="10149840" cy="182880"/>
          </a:xfrm>
          <a:prstGeom prst="rect">
            <a:avLst/>
          </a:prstGeom>
          <a:noFill/>
        </p:spPr>
        <p:txBody>
          <a:bodyPr wrap="square" lIns="13716" rIns="13716" tIns="9144" bIns="9144">
            <a:spAutoFit/>
          </a:bodyPr>
          <a:lstStyle/>
          <a:p>
            <a:pPr algn="l">
              <a:lnSpc>
                <a:spcPct val="112000"/>
              </a:lnSpc>
              <a:spcBef>
                <a:spcPts val="0"/>
              </a:spcBef>
              <a:spcAft>
                <a:spcPts val="200"/>
              </a:spcAft>
            </a:pPr>
            <a:r>
              <a:rPr sz="819" b="0">
                <a:solidFill>
                  <a:srgbClr val="657A88"/>
                </a:solidFill>
                <a:latin typeface="Noto Sans CJK TC"/>
                <a:ea typeface="Noto Sans CJK TC"/>
                <a:cs typeface="Noto Sans CJK TC"/>
              </a:rPr>
              <a:t>來源：Notion §9、§10；[最終發布版](output/validation/corpus_guard_20260908/notion_table1_stage2_published.md:584)</a:t>
            </a:r>
          </a:p>
        </p:txBody>
      </p:sp>
      <p:sp>
        <p:nvSpPr>
          <p:cNvPr id="9" name="TextBox 8"/>
          <p:cNvSpPr txBox="1"/>
          <p:nvPr/>
        </p:nvSpPr>
        <p:spPr>
          <a:xfrm>
            <a:off x="10771632" y="6446520"/>
            <a:ext cx="850392" cy="237744"/>
          </a:xfrm>
          <a:prstGeom prst="rect">
            <a:avLst/>
          </a:prstGeom>
          <a:noFill/>
        </p:spPr>
        <p:txBody>
          <a:bodyPr wrap="square" lIns="13716" rIns="13716" tIns="9144" bIns="9144">
            <a:spAutoFit/>
          </a:bodyPr>
          <a:lstStyle/>
          <a:p>
            <a:pPr algn="r">
              <a:lnSpc>
                <a:spcPct val="112000"/>
              </a:lnSpc>
              <a:spcBef>
                <a:spcPts val="0"/>
              </a:spcBef>
              <a:spcAft>
                <a:spcPts val="200"/>
              </a:spcAft>
            </a:pPr>
            <a:r>
              <a:rPr sz="1100" b="0">
                <a:solidFill>
                  <a:srgbClr val="657A88"/>
                </a:solidFill>
                <a:latin typeface="Noto Sans CJK TC"/>
                <a:ea typeface="Noto Sans CJK TC"/>
                <a:cs typeface="Noto Sans CJK TC"/>
              </a:rPr>
              <a:t>09 / 10</a:t>
            </a:r>
          </a:p>
        </p:txBody>
      </p:sp>
      <p:sp>
        <p:nvSpPr>
          <p:cNvPr id="10" name="Rectangle 9"/>
          <p:cNvSpPr/>
          <p:nvPr/>
        </p:nvSpPr>
        <p:spPr>
          <a:xfrm>
            <a:off x="548640" y="1709928"/>
            <a:ext cx="4255476"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764792"/>
            <a:ext cx="4072596"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1">
                <a:solidFill>
                  <a:srgbClr val="FFFFFF"/>
                </a:solidFill>
                <a:latin typeface="Noto Sans CJK TC"/>
                <a:ea typeface="Noto Sans CJK TC"/>
                <a:cs typeface="Noto Sans CJK TC"/>
              </a:rPr>
              <a:t>已驗證</a:t>
            </a:r>
          </a:p>
        </p:txBody>
      </p:sp>
      <p:sp>
        <p:nvSpPr>
          <p:cNvPr id="12" name="Rectangle 11"/>
          <p:cNvSpPr/>
          <p:nvPr/>
        </p:nvSpPr>
        <p:spPr>
          <a:xfrm>
            <a:off x="4804116" y="1709928"/>
            <a:ext cx="3404381"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95556" y="1764792"/>
            <a:ext cx="3221501"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1">
                <a:solidFill>
                  <a:srgbClr val="FFFFFF"/>
                </a:solidFill>
                <a:latin typeface="Noto Sans CJK TC"/>
                <a:ea typeface="Noto Sans CJK TC"/>
                <a:cs typeface="Noto Sans CJK TC"/>
              </a:rPr>
              <a:t>規模</a:t>
            </a:r>
          </a:p>
        </p:txBody>
      </p:sp>
      <p:sp>
        <p:nvSpPr>
          <p:cNvPr id="14" name="Rectangle 13"/>
          <p:cNvSpPr/>
          <p:nvPr/>
        </p:nvSpPr>
        <p:spPr>
          <a:xfrm>
            <a:off x="8208498" y="1709928"/>
            <a:ext cx="3404381" cy="493776"/>
          </a:xfrm>
          <a:prstGeom prst="rect">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9938" y="1764792"/>
            <a:ext cx="3221501" cy="402336"/>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1">
                <a:solidFill>
                  <a:srgbClr val="FFFFFF"/>
                </a:solidFill>
                <a:latin typeface="Noto Sans CJK TC"/>
                <a:ea typeface="Noto Sans CJK TC"/>
                <a:cs typeface="Noto Sans CJK TC"/>
              </a:rPr>
              <a:t>不能宣稱</a:t>
            </a:r>
          </a:p>
        </p:txBody>
      </p:sp>
      <p:sp>
        <p:nvSpPr>
          <p:cNvPr id="16" name="Rectangle 15"/>
          <p:cNvSpPr/>
          <p:nvPr/>
        </p:nvSpPr>
        <p:spPr>
          <a:xfrm>
            <a:off x="548640" y="2203704"/>
            <a:ext cx="4255476"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258568"/>
            <a:ext cx="4072596" cy="557784"/>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1">
                <a:solidFill>
                  <a:srgbClr val="183247"/>
                </a:solidFill>
                <a:latin typeface="Noto Sans CJK TC"/>
                <a:ea typeface="Noto Sans CJK TC"/>
                <a:cs typeface="Noto Sans CJK TC"/>
              </a:rPr>
              <a:t>S1／S2訓練還原</a:t>
            </a:r>
          </a:p>
        </p:txBody>
      </p:sp>
      <p:sp>
        <p:nvSpPr>
          <p:cNvPr id="18" name="Rectangle 17"/>
          <p:cNvSpPr/>
          <p:nvPr/>
        </p:nvSpPr>
        <p:spPr>
          <a:xfrm>
            <a:off x="4804116" y="2203704"/>
            <a:ext cx="3404381"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95556" y="2258568"/>
            <a:ext cx="3221501" cy="557784"/>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各1 optimizer step</a:t>
            </a:r>
          </a:p>
        </p:txBody>
      </p:sp>
      <p:sp>
        <p:nvSpPr>
          <p:cNvPr id="20" name="Rectangle 19"/>
          <p:cNvSpPr/>
          <p:nvPr/>
        </p:nvSpPr>
        <p:spPr>
          <a:xfrm>
            <a:off x="8208498" y="2203704"/>
            <a:ext cx="3404381"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9938" y="2258568"/>
            <a:ext cx="3221501" cy="557784"/>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正式收斂</a:t>
            </a:r>
          </a:p>
        </p:txBody>
      </p:sp>
      <p:sp>
        <p:nvSpPr>
          <p:cNvPr id="22" name="Rectangle 21"/>
          <p:cNvSpPr/>
          <p:nvPr/>
        </p:nvSpPr>
        <p:spPr>
          <a:xfrm>
            <a:off x="548640" y="2852928"/>
            <a:ext cx="4255476" cy="649224"/>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907792"/>
            <a:ext cx="4072596" cy="557784"/>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1">
                <a:solidFill>
                  <a:srgbClr val="183247"/>
                </a:solidFill>
                <a:latin typeface="Noto Sans CJK TC"/>
                <a:ea typeface="Noto Sans CJK TC"/>
                <a:cs typeface="Noto Sans CJK TC"/>
              </a:rPr>
              <a:t>真custom三列</a:t>
            </a:r>
          </a:p>
        </p:txBody>
      </p:sp>
      <p:sp>
        <p:nvSpPr>
          <p:cNvPr id="24" name="Rectangle 23"/>
          <p:cNvSpPr/>
          <p:nvPr/>
        </p:nvSpPr>
        <p:spPr>
          <a:xfrm>
            <a:off x="4804116" y="2852928"/>
            <a:ext cx="3404381" cy="649224"/>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95556" y="2907792"/>
            <a:ext cx="3221501" cy="557784"/>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2 query／6 gallery；42組</a:t>
            </a:r>
          </a:p>
        </p:txBody>
      </p:sp>
      <p:sp>
        <p:nvSpPr>
          <p:cNvPr id="26" name="Rectangle 25"/>
          <p:cNvSpPr/>
          <p:nvPr/>
        </p:nvSpPr>
        <p:spPr>
          <a:xfrm>
            <a:off x="8208498" y="2852928"/>
            <a:ext cx="3404381" cy="649224"/>
          </a:xfrm>
          <a:prstGeom prst="rect">
            <a:avLst/>
          </a:prstGeom>
          <a:solidFill>
            <a:srgbClr val="EB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9938" y="2907792"/>
            <a:ext cx="3221501" cy="557784"/>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全量／獨立泛化</a:t>
            </a:r>
          </a:p>
        </p:txBody>
      </p:sp>
      <p:sp>
        <p:nvSpPr>
          <p:cNvPr id="28" name="Rectangle 27"/>
          <p:cNvSpPr/>
          <p:nvPr/>
        </p:nvSpPr>
        <p:spPr>
          <a:xfrm>
            <a:off x="548640" y="3502152"/>
            <a:ext cx="4255476"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557016"/>
            <a:ext cx="4072596" cy="557784"/>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1">
                <a:solidFill>
                  <a:srgbClr val="183247"/>
                </a:solidFill>
                <a:latin typeface="Noto Sans CJK TC"/>
                <a:ea typeface="Noto Sans CJK TC"/>
                <a:cs typeface="Noto Sans CJK TC"/>
              </a:rPr>
              <a:t>真場景鏈</a:t>
            </a:r>
          </a:p>
        </p:txBody>
      </p:sp>
      <p:sp>
        <p:nvSpPr>
          <p:cNvPr id="30" name="Rectangle 29"/>
          <p:cNvSpPr/>
          <p:nvPr/>
        </p:nvSpPr>
        <p:spPr>
          <a:xfrm>
            <a:off x="4804116" y="3502152"/>
            <a:ext cx="3404381"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95556" y="3557016"/>
            <a:ext cx="3221501" cy="557784"/>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6 gallery／3 slots</a:t>
            </a:r>
          </a:p>
        </p:txBody>
      </p:sp>
      <p:sp>
        <p:nvSpPr>
          <p:cNvPr id="32" name="Rectangle 31"/>
          <p:cNvSpPr/>
          <p:nvPr/>
        </p:nvSpPr>
        <p:spPr>
          <a:xfrm>
            <a:off x="8208498" y="3502152"/>
            <a:ext cx="3404381"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99938" y="3557016"/>
            <a:ext cx="3221501" cy="557784"/>
          </a:xfrm>
          <a:prstGeom prst="rect">
            <a:avLst/>
          </a:prstGeom>
          <a:noFill/>
        </p:spPr>
        <p:txBody>
          <a:bodyPr wrap="square" lIns="13716" rIns="13716" tIns="9144" bIns="9144" anchor="ctr">
            <a:spAutoFit/>
          </a:bodyPr>
          <a:lstStyle/>
          <a:p>
            <a:pPr algn="l">
              <a:lnSpc>
                <a:spcPct val="112000"/>
              </a:lnSpc>
              <a:spcBef>
                <a:spcPts val="0"/>
              </a:spcBef>
              <a:spcAft>
                <a:spcPts val="200"/>
              </a:spcAft>
            </a:pPr>
            <a:r>
              <a:rPr sz="1600" b="0">
                <a:solidFill>
                  <a:srgbClr val="183247"/>
                </a:solidFill>
                <a:latin typeface="Noto Sans CJK TC"/>
                <a:ea typeface="Noto Sans CJK TC"/>
                <a:cs typeface="Noto Sans CJK TC"/>
              </a:rPr>
              <a:t>200 scenes／品質改善</a:t>
            </a:r>
          </a:p>
        </p:txBody>
      </p:sp>
      <p:sp>
        <p:nvSpPr>
          <p:cNvPr id="34" name="Rounded Rectangle 33"/>
          <p:cNvSpPr/>
          <p:nvPr/>
        </p:nvSpPr>
        <p:spPr>
          <a:xfrm>
            <a:off x="548640" y="4489704"/>
            <a:ext cx="5376672" cy="1005840"/>
          </a:xfrm>
          <a:prstGeom prst="roundRect">
            <a:avLst>
              <a:gd name="adj" fmla="val 8000"/>
            </a:avLst>
          </a:prstGeom>
          <a:solidFill>
            <a:srgbClr val="1832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190488" y="4489704"/>
            <a:ext cx="5422392" cy="1005840"/>
          </a:xfrm>
          <a:prstGeom prst="roundRect">
            <a:avLst>
              <a:gd name="adj" fmla="val 8000"/>
            </a:avLst>
          </a:prstGeom>
          <a:solidFill>
            <a:srgbClr val="13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 y="4599432"/>
            <a:ext cx="2121408" cy="448056"/>
          </a:xfrm>
          <a:prstGeom prst="rect">
            <a:avLst/>
          </a:prstGeom>
          <a:noFill/>
        </p:spPr>
        <p:txBody>
          <a:bodyPr wrap="square" lIns="13716" rIns="13716" tIns="9144" bIns="9144">
            <a:spAutoFit/>
          </a:bodyPr>
          <a:lstStyle/>
          <a:p>
            <a:pPr algn="l">
              <a:lnSpc>
                <a:spcPct val="112000"/>
              </a:lnSpc>
              <a:spcBef>
                <a:spcPts val="0"/>
              </a:spcBef>
              <a:spcAft>
                <a:spcPts val="200"/>
              </a:spcAft>
            </a:pPr>
            <a:r>
              <a:rPr sz="3100" b="1">
                <a:solidFill>
                  <a:srgbClr val="FFFFFF"/>
                </a:solidFill>
                <a:latin typeface="Noto Sans CJK TC"/>
                <a:ea typeface="Noto Sans CJK TC"/>
                <a:cs typeface="Noto Sans CJK TC"/>
              </a:rPr>
              <a:t>1,805</a:t>
            </a:r>
          </a:p>
        </p:txBody>
      </p:sp>
      <p:sp>
        <p:nvSpPr>
          <p:cNvPr id="37" name="TextBox 36"/>
          <p:cNvSpPr txBox="1"/>
          <p:nvPr/>
        </p:nvSpPr>
        <p:spPr>
          <a:xfrm>
            <a:off x="2770632" y="4773168"/>
            <a:ext cx="2953512" cy="347472"/>
          </a:xfrm>
          <a:prstGeom prst="rect">
            <a:avLst/>
          </a:prstGeom>
          <a:noFill/>
        </p:spPr>
        <p:txBody>
          <a:bodyPr wrap="square" lIns="13716" rIns="13716" tIns="9144" bIns="9144">
            <a:spAutoFit/>
          </a:bodyPr>
          <a:lstStyle/>
          <a:p>
            <a:pPr algn="l">
              <a:lnSpc>
                <a:spcPct val="112000"/>
              </a:lnSpc>
              <a:spcBef>
                <a:spcPts val="0"/>
              </a:spcBef>
              <a:spcAft>
                <a:spcPts val="200"/>
              </a:spcAft>
            </a:pPr>
            <a:r>
              <a:rPr sz="1500" b="0">
                <a:solidFill>
                  <a:srgbClr val="FFFFFF"/>
                </a:solidFill>
                <a:latin typeface="Noto Sans CJK TC"/>
                <a:ea typeface="Noto Sans CJK TC"/>
                <a:cs typeface="Noto Sans CJK TC"/>
              </a:rPr>
              <a:t>CPU tests passed</a:t>
            </a:r>
          </a:p>
        </p:txBody>
      </p:sp>
      <p:sp>
        <p:nvSpPr>
          <p:cNvPr id="38" name="TextBox 37"/>
          <p:cNvSpPr txBox="1"/>
          <p:nvPr/>
        </p:nvSpPr>
        <p:spPr>
          <a:xfrm>
            <a:off x="6409944" y="4599432"/>
            <a:ext cx="2121408" cy="448056"/>
          </a:xfrm>
          <a:prstGeom prst="rect">
            <a:avLst/>
          </a:prstGeom>
          <a:noFill/>
        </p:spPr>
        <p:txBody>
          <a:bodyPr wrap="square" lIns="13716" rIns="13716" tIns="9144" bIns="9144">
            <a:spAutoFit/>
          </a:bodyPr>
          <a:lstStyle/>
          <a:p>
            <a:pPr algn="l">
              <a:lnSpc>
                <a:spcPct val="112000"/>
              </a:lnSpc>
              <a:spcBef>
                <a:spcPts val="0"/>
              </a:spcBef>
              <a:spcAft>
                <a:spcPts val="200"/>
              </a:spcAft>
            </a:pPr>
            <a:r>
              <a:rPr sz="3100" b="1">
                <a:solidFill>
                  <a:srgbClr val="FFFFFF"/>
                </a:solidFill>
                <a:latin typeface="Noto Sans CJK TC"/>
                <a:ea typeface="Noto Sans CJK TC"/>
                <a:cs typeface="Noto Sans CJK TC"/>
              </a:rPr>
              <a:t>2,342</a:t>
            </a:r>
          </a:p>
        </p:txBody>
      </p:sp>
      <p:sp>
        <p:nvSpPr>
          <p:cNvPr id="39" name="TextBox 38"/>
          <p:cNvSpPr txBox="1"/>
          <p:nvPr/>
        </p:nvSpPr>
        <p:spPr>
          <a:xfrm>
            <a:off x="8522208" y="4773168"/>
            <a:ext cx="2788920" cy="347472"/>
          </a:xfrm>
          <a:prstGeom prst="rect">
            <a:avLst/>
          </a:prstGeom>
          <a:noFill/>
        </p:spPr>
        <p:txBody>
          <a:bodyPr wrap="square" lIns="13716" rIns="13716" tIns="9144" bIns="9144">
            <a:spAutoFit/>
          </a:bodyPr>
          <a:lstStyle/>
          <a:p>
            <a:pPr algn="l">
              <a:lnSpc>
                <a:spcPct val="112000"/>
              </a:lnSpc>
              <a:spcBef>
                <a:spcPts val="0"/>
              </a:spcBef>
              <a:spcAft>
                <a:spcPts val="200"/>
              </a:spcAft>
            </a:pPr>
            <a:r>
              <a:rPr sz="1500" b="0">
                <a:solidFill>
                  <a:srgbClr val="FFFFFF"/>
                </a:solidFill>
                <a:latin typeface="Noto Sans CJK TC"/>
                <a:ea typeface="Noto Sans CJK TC"/>
                <a:cs typeface="Noto Sans CJK TC"/>
              </a:rPr>
              <a:t>graph checks</a:t>
            </a:r>
          </a:p>
        </p:txBody>
      </p:sp>
      <p:sp>
        <p:nvSpPr>
          <p:cNvPr id="40" name="TextBox 39"/>
          <p:cNvSpPr txBox="1"/>
          <p:nvPr/>
        </p:nvSpPr>
        <p:spPr>
          <a:xfrm>
            <a:off x="685800" y="5632704"/>
            <a:ext cx="10698480" cy="210312"/>
          </a:xfrm>
          <a:prstGeom prst="rect">
            <a:avLst/>
          </a:prstGeom>
          <a:noFill/>
        </p:spPr>
        <p:txBody>
          <a:bodyPr wrap="square" lIns="13716" rIns="13716" tIns="9144" bIns="9144">
            <a:spAutoFit/>
          </a:bodyPr>
          <a:lstStyle/>
          <a:p>
            <a:pPr algn="l">
              <a:lnSpc>
                <a:spcPct val="112000"/>
              </a:lnSpc>
              <a:spcBef>
                <a:spcPts val="0"/>
              </a:spcBef>
              <a:spcAft>
                <a:spcPts val="200"/>
              </a:spcAft>
            </a:pPr>
            <a:r>
              <a:rPr sz="1150" b="1">
                <a:solidFill>
                  <a:srgbClr val="CE663F"/>
                </a:solidFill>
                <a:latin typeface="Noto Sans CJK TC"/>
                <a:ea typeface="Noto Sans CJK TC"/>
                <a:cs typeface="Noto Sans CJK TC"/>
              </a:rPr>
              <a:t>Scene_scores 尚未執行 judge；Human 保持 INSUFFICIENT_EVIDENCE。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13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219456"/>
            <a:ext cx="10424160" cy="246888"/>
          </a:xfrm>
          <a:prstGeom prst="rect">
            <a:avLst/>
          </a:prstGeom>
          <a:noFill/>
        </p:spPr>
        <p:txBody>
          <a:bodyPr wrap="square" lIns="13716" rIns="13716" tIns="9144" bIns="9144">
            <a:spAutoFit/>
          </a:bodyPr>
          <a:lstStyle/>
          <a:p>
            <a:pPr algn="l">
              <a:lnSpc>
                <a:spcPct val="112000"/>
              </a:lnSpc>
              <a:spcBef>
                <a:spcPts val="0"/>
              </a:spcBef>
              <a:spcAft>
                <a:spcPts val="200"/>
              </a:spcAft>
            </a:pPr>
            <a:r>
              <a:rPr sz="1100" b="1">
                <a:solidFill>
                  <a:srgbClr val="137D88"/>
                </a:solidFill>
                <a:latin typeface="Noto Sans CJK TC"/>
                <a:ea typeface="Noto Sans CJK TC"/>
                <a:cs typeface="Noto Sans CJK TC"/>
              </a:rPr>
              <a:t>後續與交付</a:t>
            </a:r>
          </a:p>
        </p:txBody>
      </p:sp>
      <p:sp>
        <p:nvSpPr>
          <p:cNvPr id="4" name="TextBox 3"/>
          <p:cNvSpPr txBox="1"/>
          <p:nvPr/>
        </p:nvSpPr>
        <p:spPr>
          <a:xfrm>
            <a:off x="521207" y="630936"/>
            <a:ext cx="11119104" cy="923544"/>
          </a:xfrm>
          <a:prstGeom prst="rect">
            <a:avLst/>
          </a:prstGeom>
          <a:noFill/>
        </p:spPr>
        <p:txBody>
          <a:bodyPr wrap="square" lIns="13716" rIns="13716" tIns="9144" bIns="9144">
            <a:spAutoFit/>
          </a:bodyPr>
          <a:lstStyle/>
          <a:p>
            <a:pPr algn="l">
              <a:lnSpc>
                <a:spcPct val="112000"/>
              </a:lnSpc>
              <a:spcBef>
                <a:spcPts val="0"/>
              </a:spcBef>
              <a:spcAft>
                <a:spcPts val="200"/>
              </a:spcAft>
            </a:pPr>
            <a:r>
              <a:rPr sz="3100" b="1">
                <a:solidFill>
                  <a:srgbClr val="183247"/>
                </a:solidFill>
                <a:latin typeface="Noto Sans CJK TC"/>
                <a:ea typeface="Noto Sans CJK TC"/>
                <a:cs typeface="Noto Sans CJK TC"/>
              </a:rPr>
              <a:t>按來源與產物驗收，不按DONE或高分結案</a:t>
            </a:r>
          </a:p>
        </p:txBody>
      </p:sp>
      <p:cxnSp>
        <p:nvCxnSpPr>
          <p:cNvPr id="5" name="Connector 4"/>
          <p:cNvCxnSpPr/>
          <p:nvPr/>
        </p:nvCxnSpPr>
        <p:spPr>
          <a:xfrm>
            <a:off x="548640" y="1481328"/>
            <a:ext cx="11091672" cy="0"/>
          </a:xfrm>
          <a:prstGeom prst="line">
            <a:avLst/>
          </a:prstGeom>
          <a:ln w="16510">
            <a:solidFill>
              <a:srgbClr val="D9E2E7"/>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48640" y="5916168"/>
            <a:ext cx="11064240" cy="384048"/>
          </a:xfrm>
          <a:prstGeom prst="rect">
            <a:avLst/>
          </a:prstGeom>
          <a:solidFill>
            <a:srgbClr val="E6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943600"/>
            <a:ext cx="10789920" cy="310896"/>
          </a:xfrm>
          <a:prstGeom prst="rect">
            <a:avLst/>
          </a:prstGeom>
          <a:noFill/>
        </p:spPr>
        <p:txBody>
          <a:bodyPr wrap="square" lIns="13716" rIns="13716" tIns="9144" bIns="9144">
            <a:spAutoFit/>
          </a:bodyPr>
          <a:lstStyle/>
          <a:p>
            <a:pPr algn="l">
              <a:lnSpc>
                <a:spcPct val="112000"/>
              </a:lnSpc>
              <a:spcBef>
                <a:spcPts val="0"/>
              </a:spcBef>
              <a:spcAft>
                <a:spcPts val="200"/>
              </a:spcAft>
            </a:pPr>
            <a:r>
              <a:rPr sz="1700" b="1">
                <a:solidFill>
                  <a:srgbClr val="137D88"/>
                </a:solidFill>
                <a:latin typeface="Noto Sans CJK TC"/>
                <a:ea typeface="Noto Sans CJK TC"/>
                <a:cs typeface="Noto Sans CJK TC"/>
              </a:rPr>
              <a:t>先完成新corpus與訓練交接，再以同一protocol產生完整比較。</a:t>
            </a:r>
          </a:p>
        </p:txBody>
      </p:sp>
      <p:sp>
        <p:nvSpPr>
          <p:cNvPr id="8" name="TextBox 7">
            <a:hlinkClick r:id="rId2"/>
          </p:cNvPr>
          <p:cNvSpPr txBox="1"/>
          <p:nvPr/>
        </p:nvSpPr>
        <p:spPr>
          <a:xfrm>
            <a:off x="548640" y="6473952"/>
            <a:ext cx="10149840" cy="182880"/>
          </a:xfrm>
          <a:prstGeom prst="rect">
            <a:avLst/>
          </a:prstGeom>
          <a:noFill/>
        </p:spPr>
        <p:txBody>
          <a:bodyPr wrap="square" lIns="13716" rIns="13716" tIns="9144" bIns="9144">
            <a:spAutoFit/>
          </a:bodyPr>
          <a:lstStyle/>
          <a:p>
            <a:pPr algn="l">
              <a:lnSpc>
                <a:spcPct val="112000"/>
              </a:lnSpc>
              <a:spcBef>
                <a:spcPts val="0"/>
              </a:spcBef>
              <a:spcAft>
                <a:spcPts val="200"/>
              </a:spcAft>
            </a:pPr>
            <a:r>
              <a:rPr sz="819" b="0">
                <a:solidFill>
                  <a:srgbClr val="657A88"/>
                </a:solidFill>
                <a:latin typeface="Noto Sans CJK TC"/>
                <a:ea typeface="Noto Sans CJK TC"/>
                <a:cs typeface="Noto Sans CJK TC"/>
              </a:rPr>
              <a:t>來源：Notion §11、§7.3；[最終發布版](output/validation/corpus_guard_20260908/notion_table1_stage2_published.md:661)</a:t>
            </a:r>
          </a:p>
        </p:txBody>
      </p:sp>
      <p:sp>
        <p:nvSpPr>
          <p:cNvPr id="9" name="TextBox 8"/>
          <p:cNvSpPr txBox="1"/>
          <p:nvPr/>
        </p:nvSpPr>
        <p:spPr>
          <a:xfrm>
            <a:off x="10771632" y="6446520"/>
            <a:ext cx="850392" cy="237744"/>
          </a:xfrm>
          <a:prstGeom prst="rect">
            <a:avLst/>
          </a:prstGeom>
          <a:noFill/>
        </p:spPr>
        <p:txBody>
          <a:bodyPr wrap="square" lIns="13716" rIns="13716" tIns="9144" bIns="9144">
            <a:spAutoFit/>
          </a:bodyPr>
          <a:lstStyle/>
          <a:p>
            <a:pPr algn="r">
              <a:lnSpc>
                <a:spcPct val="112000"/>
              </a:lnSpc>
              <a:spcBef>
                <a:spcPts val="0"/>
              </a:spcBef>
              <a:spcAft>
                <a:spcPts val="200"/>
              </a:spcAft>
            </a:pPr>
            <a:r>
              <a:rPr sz="1100" b="0">
                <a:solidFill>
                  <a:srgbClr val="657A88"/>
                </a:solidFill>
                <a:latin typeface="Noto Sans CJK TC"/>
                <a:ea typeface="Noto Sans CJK TC"/>
                <a:cs typeface="Noto Sans CJK TC"/>
              </a:rPr>
              <a:t>10 / 10</a:t>
            </a:r>
          </a:p>
        </p:txBody>
      </p:sp>
      <p:sp>
        <p:nvSpPr>
          <p:cNvPr id="10" name="Rounded Rectangle 9"/>
          <p:cNvSpPr/>
          <p:nvPr/>
        </p:nvSpPr>
        <p:spPr>
          <a:xfrm>
            <a:off x="548640" y="1792224"/>
            <a:ext cx="3505200" cy="1728216"/>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01952"/>
            <a:ext cx="512064" cy="32918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01</a:t>
            </a:r>
          </a:p>
        </p:txBody>
      </p:sp>
      <p:sp>
        <p:nvSpPr>
          <p:cNvPr id="12" name="TextBox 11"/>
          <p:cNvSpPr txBox="1"/>
          <p:nvPr/>
        </p:nvSpPr>
        <p:spPr>
          <a:xfrm>
            <a:off x="685800" y="2322576"/>
            <a:ext cx="3230880" cy="60350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83247"/>
                </a:solidFill>
                <a:latin typeface="Noto Sans CJK TC"/>
                <a:ea typeface="Noto Sans CJK TC"/>
                <a:cs typeface="Noto Sans CJK TC"/>
              </a:rPr>
              <a:t>新corpus／n09</a:t>
            </a:r>
          </a:p>
        </p:txBody>
      </p:sp>
      <p:sp>
        <p:nvSpPr>
          <p:cNvPr id="13" name="TextBox 12"/>
          <p:cNvSpPr txBox="1"/>
          <p:nvPr/>
        </p:nvSpPr>
        <p:spPr>
          <a:xfrm>
            <a:off x="685800" y="2916936"/>
            <a:ext cx="3230880" cy="530351"/>
          </a:xfrm>
          <a:prstGeom prst="rect">
            <a:avLst/>
          </a:prstGeom>
          <a:noFill/>
        </p:spPr>
        <p:txBody>
          <a:bodyPr wrap="square" lIns="13716" rIns="13716" tIns="9144" bIns="9144">
            <a:spAutoFit/>
          </a:bodyPr>
          <a:lstStyle/>
          <a:p>
            <a:pPr algn="l">
              <a:lnSpc>
                <a:spcPct val="112000"/>
              </a:lnSpc>
              <a:spcBef>
                <a:spcPts val="0"/>
              </a:spcBef>
              <a:spcAft>
                <a:spcPts val="200"/>
              </a:spcAft>
            </a:pPr>
            <a:r>
              <a:rPr sz="1400" b="0">
                <a:solidFill>
                  <a:srgbClr val="657A88"/>
                </a:solidFill>
                <a:latin typeface="Noto Sans CJK TC"/>
                <a:ea typeface="Noto Sans CJK TC"/>
                <a:cs typeface="Noto Sans CJK TC"/>
              </a:rPr>
              <a:t>明確E與完整protocol</a:t>
            </a:r>
          </a:p>
        </p:txBody>
      </p:sp>
      <p:sp>
        <p:nvSpPr>
          <p:cNvPr id="14" name="TextBox 13"/>
          <p:cNvSpPr txBox="1"/>
          <p:nvPr/>
        </p:nvSpPr>
        <p:spPr>
          <a:xfrm>
            <a:off x="4072128" y="2432304"/>
            <a:ext cx="237744" cy="384048"/>
          </a:xfrm>
          <a:prstGeom prst="rect">
            <a:avLst/>
          </a:prstGeom>
          <a:noFill/>
        </p:spPr>
        <p:txBody>
          <a:bodyPr wrap="square" lIns="13716" rIns="13716" tIns="9144" bIns="9144">
            <a:spAutoFit/>
          </a:bodyPr>
          <a:lstStyle/>
          <a:p>
            <a:pPr algn="ctr">
              <a:lnSpc>
                <a:spcPct val="112000"/>
              </a:lnSpc>
              <a:spcBef>
                <a:spcPts val="0"/>
              </a:spcBef>
              <a:spcAft>
                <a:spcPts val="200"/>
              </a:spcAft>
            </a:pPr>
            <a:r>
              <a:rPr sz="2000" b="1">
                <a:solidFill>
                  <a:srgbClr val="137D88"/>
                </a:solidFill>
                <a:latin typeface="Noto Sans CJK TC"/>
                <a:ea typeface="Noto Sans CJK TC"/>
                <a:cs typeface="Noto Sans CJK TC"/>
              </a:rPr>
              <a:t>→</a:t>
            </a:r>
          </a:p>
        </p:txBody>
      </p:sp>
      <p:sp>
        <p:nvSpPr>
          <p:cNvPr id="15" name="Rounded Rectangle 14"/>
          <p:cNvSpPr/>
          <p:nvPr/>
        </p:nvSpPr>
        <p:spPr>
          <a:xfrm>
            <a:off x="4328160" y="1792224"/>
            <a:ext cx="3505200" cy="1728216"/>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5320" y="1901952"/>
            <a:ext cx="512064" cy="32918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02</a:t>
            </a:r>
          </a:p>
        </p:txBody>
      </p:sp>
      <p:sp>
        <p:nvSpPr>
          <p:cNvPr id="17" name="TextBox 16"/>
          <p:cNvSpPr txBox="1"/>
          <p:nvPr/>
        </p:nvSpPr>
        <p:spPr>
          <a:xfrm>
            <a:off x="4465320" y="2322576"/>
            <a:ext cx="3230880" cy="60350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83247"/>
                </a:solidFill>
                <a:latin typeface="Noto Sans CJK TC"/>
                <a:ea typeface="Noto Sans CJK TC"/>
                <a:cs typeface="Noto Sans CJK TC"/>
              </a:rPr>
              <a:t>另行G3 partial</a:t>
            </a:r>
          </a:p>
        </p:txBody>
      </p:sp>
      <p:sp>
        <p:nvSpPr>
          <p:cNvPr id="18" name="TextBox 17"/>
          <p:cNvSpPr txBox="1"/>
          <p:nvPr/>
        </p:nvSpPr>
        <p:spPr>
          <a:xfrm>
            <a:off x="4465320" y="2916936"/>
            <a:ext cx="3230880" cy="530351"/>
          </a:xfrm>
          <a:prstGeom prst="rect">
            <a:avLst/>
          </a:prstGeom>
          <a:noFill/>
        </p:spPr>
        <p:txBody>
          <a:bodyPr wrap="square" lIns="13716" rIns="13716" tIns="9144" bIns="9144">
            <a:spAutoFit/>
          </a:bodyPr>
          <a:lstStyle/>
          <a:p>
            <a:pPr algn="l">
              <a:lnSpc>
                <a:spcPct val="112000"/>
              </a:lnSpc>
              <a:spcBef>
                <a:spcPts val="0"/>
              </a:spcBef>
              <a:spcAft>
                <a:spcPts val="200"/>
              </a:spcAft>
            </a:pPr>
            <a:r>
              <a:rPr sz="1400" b="0">
                <a:solidFill>
                  <a:srgbClr val="657A88"/>
                </a:solidFill>
                <a:latin typeface="Noto Sans CJK TC"/>
                <a:ea typeface="Noto Sans CJK TC"/>
                <a:cs typeface="Noto Sans CJK TC"/>
              </a:rPr>
              <a:t>新資料的集合守恆</a:t>
            </a:r>
          </a:p>
        </p:txBody>
      </p:sp>
      <p:sp>
        <p:nvSpPr>
          <p:cNvPr id="19" name="TextBox 18"/>
          <p:cNvSpPr txBox="1"/>
          <p:nvPr/>
        </p:nvSpPr>
        <p:spPr>
          <a:xfrm>
            <a:off x="7851647" y="2432304"/>
            <a:ext cx="237744" cy="384048"/>
          </a:xfrm>
          <a:prstGeom prst="rect">
            <a:avLst/>
          </a:prstGeom>
          <a:noFill/>
        </p:spPr>
        <p:txBody>
          <a:bodyPr wrap="square" lIns="13716" rIns="13716" tIns="9144" bIns="9144">
            <a:spAutoFit/>
          </a:bodyPr>
          <a:lstStyle/>
          <a:p>
            <a:pPr algn="ctr">
              <a:lnSpc>
                <a:spcPct val="112000"/>
              </a:lnSpc>
              <a:spcBef>
                <a:spcPts val="0"/>
              </a:spcBef>
              <a:spcAft>
                <a:spcPts val="200"/>
              </a:spcAft>
            </a:pPr>
            <a:r>
              <a:rPr sz="2000" b="1">
                <a:solidFill>
                  <a:srgbClr val="137D88"/>
                </a:solidFill>
                <a:latin typeface="Noto Sans CJK TC"/>
                <a:ea typeface="Noto Sans CJK TC"/>
                <a:cs typeface="Noto Sans CJK TC"/>
              </a:rPr>
              <a:t>→</a:t>
            </a:r>
          </a:p>
        </p:txBody>
      </p:sp>
      <p:sp>
        <p:nvSpPr>
          <p:cNvPr id="20" name="Rounded Rectangle 19"/>
          <p:cNvSpPr/>
          <p:nvPr/>
        </p:nvSpPr>
        <p:spPr>
          <a:xfrm>
            <a:off x="8107680" y="1792224"/>
            <a:ext cx="3505200" cy="1728216"/>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4840" y="1901952"/>
            <a:ext cx="512064" cy="32918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03</a:t>
            </a:r>
          </a:p>
        </p:txBody>
      </p:sp>
      <p:sp>
        <p:nvSpPr>
          <p:cNvPr id="22" name="TextBox 21"/>
          <p:cNvSpPr txBox="1"/>
          <p:nvPr/>
        </p:nvSpPr>
        <p:spPr>
          <a:xfrm>
            <a:off x="8244840" y="2322576"/>
            <a:ext cx="3230880" cy="60350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83247"/>
                </a:solidFill>
                <a:latin typeface="Noto Sans CJK TC"/>
                <a:ea typeface="Noto Sans CJK TC"/>
                <a:cs typeface="Noto Sans CJK TC"/>
              </a:rPr>
              <a:t>S1＋G4＋custom</a:t>
            </a:r>
          </a:p>
        </p:txBody>
      </p:sp>
      <p:sp>
        <p:nvSpPr>
          <p:cNvPr id="23" name="TextBox 22"/>
          <p:cNvSpPr txBox="1"/>
          <p:nvPr/>
        </p:nvSpPr>
        <p:spPr>
          <a:xfrm>
            <a:off x="8244840" y="2916936"/>
            <a:ext cx="3230880" cy="530351"/>
          </a:xfrm>
          <a:prstGeom prst="rect">
            <a:avLst/>
          </a:prstGeom>
          <a:noFill/>
        </p:spPr>
        <p:txBody>
          <a:bodyPr wrap="square" lIns="13716" rIns="13716" tIns="9144" bIns="9144">
            <a:spAutoFit/>
          </a:bodyPr>
          <a:lstStyle/>
          <a:p>
            <a:pPr algn="l">
              <a:lnSpc>
                <a:spcPct val="112000"/>
              </a:lnSpc>
              <a:spcBef>
                <a:spcPts val="0"/>
              </a:spcBef>
              <a:spcAft>
                <a:spcPts val="200"/>
              </a:spcAft>
            </a:pPr>
            <a:r>
              <a:rPr sz="1400" b="0">
                <a:solidFill>
                  <a:srgbClr val="657A88"/>
                </a:solidFill>
                <a:latin typeface="Noto Sans CJK TC"/>
                <a:ea typeface="Noto Sans CJK TC"/>
                <a:cs typeface="Noto Sans CJK TC"/>
              </a:rPr>
              <a:t>權重／選模／兩觀測</a:t>
            </a:r>
          </a:p>
        </p:txBody>
      </p:sp>
      <p:sp>
        <p:nvSpPr>
          <p:cNvPr id="24" name="Rounded Rectangle 23"/>
          <p:cNvSpPr/>
          <p:nvPr/>
        </p:nvSpPr>
        <p:spPr>
          <a:xfrm>
            <a:off x="548640" y="3886200"/>
            <a:ext cx="3505200" cy="1728216"/>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995928"/>
            <a:ext cx="512064" cy="32918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04</a:t>
            </a:r>
          </a:p>
        </p:txBody>
      </p:sp>
      <p:sp>
        <p:nvSpPr>
          <p:cNvPr id="26" name="TextBox 25"/>
          <p:cNvSpPr txBox="1"/>
          <p:nvPr/>
        </p:nvSpPr>
        <p:spPr>
          <a:xfrm>
            <a:off x="685800" y="4416552"/>
            <a:ext cx="3230880" cy="60350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83247"/>
                </a:solidFill>
                <a:latin typeface="Noto Sans CJK TC"/>
                <a:ea typeface="Noto Sans CJK TC"/>
                <a:cs typeface="Noto Sans CJK TC"/>
              </a:rPr>
              <a:t>S2來源與訓練</a:t>
            </a:r>
          </a:p>
        </p:txBody>
      </p:sp>
      <p:sp>
        <p:nvSpPr>
          <p:cNvPr id="27" name="TextBox 26"/>
          <p:cNvSpPr txBox="1"/>
          <p:nvPr/>
        </p:nvSpPr>
        <p:spPr>
          <a:xfrm>
            <a:off x="685800" y="5010912"/>
            <a:ext cx="3230880" cy="530351"/>
          </a:xfrm>
          <a:prstGeom prst="rect">
            <a:avLst/>
          </a:prstGeom>
          <a:noFill/>
        </p:spPr>
        <p:txBody>
          <a:bodyPr wrap="square" lIns="13716" rIns="13716" tIns="9144" bIns="9144">
            <a:spAutoFit/>
          </a:bodyPr>
          <a:lstStyle/>
          <a:p>
            <a:pPr algn="l">
              <a:lnSpc>
                <a:spcPct val="112000"/>
              </a:lnSpc>
              <a:spcBef>
                <a:spcPts val="0"/>
              </a:spcBef>
              <a:spcAft>
                <a:spcPts val="200"/>
              </a:spcAft>
            </a:pPr>
            <a:r>
              <a:rPr sz="1400" b="0">
                <a:solidFill>
                  <a:srgbClr val="657A88"/>
                </a:solidFill>
                <a:latin typeface="Noto Sans CJK TC"/>
                <a:ea typeface="Noto Sans CJK TC"/>
                <a:cs typeface="Noto Sans CJK TC"/>
              </a:rPr>
              <a:t>room／semantic／index</a:t>
            </a:r>
          </a:p>
        </p:txBody>
      </p:sp>
      <p:sp>
        <p:nvSpPr>
          <p:cNvPr id="28" name="TextBox 27"/>
          <p:cNvSpPr txBox="1"/>
          <p:nvPr/>
        </p:nvSpPr>
        <p:spPr>
          <a:xfrm>
            <a:off x="4072128" y="4526280"/>
            <a:ext cx="237744" cy="384048"/>
          </a:xfrm>
          <a:prstGeom prst="rect">
            <a:avLst/>
          </a:prstGeom>
          <a:noFill/>
        </p:spPr>
        <p:txBody>
          <a:bodyPr wrap="square" lIns="13716" rIns="13716" tIns="9144" bIns="9144">
            <a:spAutoFit/>
          </a:bodyPr>
          <a:lstStyle/>
          <a:p>
            <a:pPr algn="ctr">
              <a:lnSpc>
                <a:spcPct val="112000"/>
              </a:lnSpc>
              <a:spcBef>
                <a:spcPts val="0"/>
              </a:spcBef>
              <a:spcAft>
                <a:spcPts val="200"/>
              </a:spcAft>
            </a:pPr>
            <a:r>
              <a:rPr sz="2000" b="1">
                <a:solidFill>
                  <a:srgbClr val="137D88"/>
                </a:solidFill>
                <a:latin typeface="Noto Sans CJK TC"/>
                <a:ea typeface="Noto Sans CJK TC"/>
                <a:cs typeface="Noto Sans CJK TC"/>
              </a:rPr>
              <a:t>→</a:t>
            </a:r>
          </a:p>
        </p:txBody>
      </p:sp>
      <p:sp>
        <p:nvSpPr>
          <p:cNvPr id="29" name="Rounded Rectangle 28"/>
          <p:cNvSpPr/>
          <p:nvPr/>
        </p:nvSpPr>
        <p:spPr>
          <a:xfrm>
            <a:off x="4328160" y="3886200"/>
            <a:ext cx="3505200" cy="1728216"/>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65320" y="3995928"/>
            <a:ext cx="512064" cy="32918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05</a:t>
            </a:r>
          </a:p>
        </p:txBody>
      </p:sp>
      <p:sp>
        <p:nvSpPr>
          <p:cNvPr id="31" name="TextBox 30"/>
          <p:cNvSpPr txBox="1"/>
          <p:nvPr/>
        </p:nvSpPr>
        <p:spPr>
          <a:xfrm>
            <a:off x="4465320" y="4416552"/>
            <a:ext cx="3230880" cy="60350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83247"/>
                </a:solidFill>
                <a:latin typeface="Noto Sans CJK TC"/>
                <a:ea typeface="Noto Sans CJK TC"/>
                <a:cs typeface="Noto Sans CJK TC"/>
              </a:rPr>
              <a:t>同protocol三列</a:t>
            </a:r>
          </a:p>
        </p:txBody>
      </p:sp>
      <p:sp>
        <p:nvSpPr>
          <p:cNvPr id="32" name="TextBox 31"/>
          <p:cNvSpPr txBox="1"/>
          <p:nvPr/>
        </p:nvSpPr>
        <p:spPr>
          <a:xfrm>
            <a:off x="4465320" y="5010912"/>
            <a:ext cx="3230880" cy="530351"/>
          </a:xfrm>
          <a:prstGeom prst="rect">
            <a:avLst/>
          </a:prstGeom>
          <a:noFill/>
        </p:spPr>
        <p:txBody>
          <a:bodyPr wrap="square" lIns="13716" rIns="13716" tIns="9144" bIns="9144">
            <a:spAutoFit/>
          </a:bodyPr>
          <a:lstStyle/>
          <a:p>
            <a:pPr algn="l">
              <a:lnSpc>
                <a:spcPct val="112000"/>
              </a:lnSpc>
              <a:spcBef>
                <a:spcPts val="0"/>
              </a:spcBef>
              <a:spcAft>
                <a:spcPts val="200"/>
              </a:spcAft>
            </a:pPr>
            <a:r>
              <a:rPr sz="1400" b="0">
                <a:solidFill>
                  <a:srgbClr val="657A88"/>
                </a:solidFill>
                <a:latin typeface="Noto Sans CJK TC"/>
                <a:ea typeface="Noto Sans CJK TC"/>
                <a:cs typeface="Noto Sans CJK TC"/>
              </a:rPr>
              <a:t>42組與逐query證據</a:t>
            </a:r>
          </a:p>
        </p:txBody>
      </p:sp>
      <p:sp>
        <p:nvSpPr>
          <p:cNvPr id="33" name="TextBox 32"/>
          <p:cNvSpPr txBox="1"/>
          <p:nvPr/>
        </p:nvSpPr>
        <p:spPr>
          <a:xfrm>
            <a:off x="7851647" y="4526280"/>
            <a:ext cx="237744" cy="384048"/>
          </a:xfrm>
          <a:prstGeom prst="rect">
            <a:avLst/>
          </a:prstGeom>
          <a:noFill/>
        </p:spPr>
        <p:txBody>
          <a:bodyPr wrap="square" lIns="13716" rIns="13716" tIns="9144" bIns="9144">
            <a:spAutoFit/>
          </a:bodyPr>
          <a:lstStyle/>
          <a:p>
            <a:pPr algn="ctr">
              <a:lnSpc>
                <a:spcPct val="112000"/>
              </a:lnSpc>
              <a:spcBef>
                <a:spcPts val="0"/>
              </a:spcBef>
              <a:spcAft>
                <a:spcPts val="200"/>
              </a:spcAft>
            </a:pPr>
            <a:r>
              <a:rPr sz="2000" b="1">
                <a:solidFill>
                  <a:srgbClr val="137D88"/>
                </a:solidFill>
                <a:latin typeface="Noto Sans CJK TC"/>
                <a:ea typeface="Noto Sans CJK TC"/>
                <a:cs typeface="Noto Sans CJK TC"/>
              </a:rPr>
              <a:t>→</a:t>
            </a:r>
          </a:p>
        </p:txBody>
      </p:sp>
      <p:sp>
        <p:nvSpPr>
          <p:cNvPr id="34" name="Rounded Rectangle 33"/>
          <p:cNvSpPr/>
          <p:nvPr/>
        </p:nvSpPr>
        <p:spPr>
          <a:xfrm>
            <a:off x="8107680" y="3886200"/>
            <a:ext cx="3505200" cy="1728216"/>
          </a:xfrm>
          <a:prstGeom prst="roundRect">
            <a:avLst>
              <a:gd name="adj" fmla="val 8000"/>
            </a:avLst>
          </a:prstGeom>
          <a:solidFill>
            <a:srgbClr val="FFFFFF"/>
          </a:solidFill>
          <a:ln w="889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4840" y="3995928"/>
            <a:ext cx="512064" cy="32918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37D88"/>
                </a:solidFill>
                <a:latin typeface="Noto Sans CJK TC"/>
                <a:ea typeface="Noto Sans CJK TC"/>
                <a:cs typeface="Noto Sans CJK TC"/>
              </a:rPr>
              <a:t>06</a:t>
            </a:r>
          </a:p>
        </p:txBody>
      </p:sp>
      <p:sp>
        <p:nvSpPr>
          <p:cNvPr id="36" name="TextBox 35"/>
          <p:cNvSpPr txBox="1"/>
          <p:nvPr/>
        </p:nvSpPr>
        <p:spPr>
          <a:xfrm>
            <a:off x="8244840" y="4416552"/>
            <a:ext cx="3230880" cy="603504"/>
          </a:xfrm>
          <a:prstGeom prst="rect">
            <a:avLst/>
          </a:prstGeom>
          <a:noFill/>
        </p:spPr>
        <p:txBody>
          <a:bodyPr wrap="square" lIns="13716" rIns="13716" tIns="9144" bIns="9144">
            <a:spAutoFit/>
          </a:bodyPr>
          <a:lstStyle/>
          <a:p>
            <a:pPr algn="l">
              <a:lnSpc>
                <a:spcPct val="112000"/>
              </a:lnSpc>
              <a:spcBef>
                <a:spcPts val="0"/>
              </a:spcBef>
              <a:spcAft>
                <a:spcPts val="200"/>
              </a:spcAft>
            </a:pPr>
            <a:r>
              <a:rPr sz="1800" b="1">
                <a:solidFill>
                  <a:srgbClr val="183247"/>
                </a:solidFill>
                <a:latin typeface="Noto Sans CJK TC"/>
                <a:ea typeface="Noto Sans CJK TC"/>
                <a:cs typeface="Noto Sans CJK TC"/>
              </a:rPr>
              <a:t>正式場景評分</a:t>
            </a:r>
          </a:p>
        </p:txBody>
      </p:sp>
      <p:sp>
        <p:nvSpPr>
          <p:cNvPr id="37" name="TextBox 36"/>
          <p:cNvSpPr txBox="1"/>
          <p:nvPr/>
        </p:nvSpPr>
        <p:spPr>
          <a:xfrm>
            <a:off x="8244840" y="5010912"/>
            <a:ext cx="3230880" cy="530351"/>
          </a:xfrm>
          <a:prstGeom prst="rect">
            <a:avLst/>
          </a:prstGeom>
          <a:noFill/>
        </p:spPr>
        <p:txBody>
          <a:bodyPr wrap="square" lIns="13716" rIns="13716" tIns="9144" bIns="9144">
            <a:spAutoFit/>
          </a:bodyPr>
          <a:lstStyle/>
          <a:p>
            <a:pPr algn="l">
              <a:lnSpc>
                <a:spcPct val="112000"/>
              </a:lnSpc>
              <a:spcBef>
                <a:spcPts val="0"/>
              </a:spcBef>
              <a:spcAft>
                <a:spcPts val="200"/>
              </a:spcAft>
            </a:pPr>
            <a:r>
              <a:rPr sz="1400" b="0">
                <a:solidFill>
                  <a:srgbClr val="657A88"/>
                </a:solidFill>
                <a:latin typeface="Noto Sans CJK TC"/>
                <a:ea typeface="Noto Sans CJK TC"/>
                <a:cs typeface="Noto Sans CJK TC"/>
              </a:rPr>
              <a:t>固定分母／外部judge</a:t>
            </a:r>
          </a:p>
        </p:txBody>
      </p:sp>
      <p:sp>
        <p:nvSpPr>
          <p:cNvPr id="38" name="TextBox 37"/>
          <p:cNvSpPr txBox="1"/>
          <p:nvPr/>
        </p:nvSpPr>
        <p:spPr>
          <a:xfrm>
            <a:off x="640080" y="5660136"/>
            <a:ext cx="10789920" cy="219456"/>
          </a:xfrm>
          <a:prstGeom prst="rect">
            <a:avLst/>
          </a:prstGeom>
          <a:noFill/>
        </p:spPr>
        <p:txBody>
          <a:bodyPr wrap="square" lIns="13716" rIns="13716" tIns="9144" bIns="9144">
            <a:spAutoFit/>
          </a:bodyPr>
          <a:lstStyle/>
          <a:p>
            <a:pPr algn="l">
              <a:lnSpc>
                <a:spcPct val="112000"/>
              </a:lnSpc>
              <a:spcBef>
                <a:spcPts val="0"/>
              </a:spcBef>
              <a:spcAft>
                <a:spcPts val="200"/>
              </a:spcAft>
            </a:pPr>
            <a:r>
              <a:rPr sz="1100" b="0">
                <a:solidFill>
                  <a:srgbClr val="657A88"/>
                </a:solidFill>
                <a:latin typeface="Noto Sans CJK TC"/>
                <a:ea typeface="Noto Sans CJK TC"/>
                <a:cs typeface="Noto Sans CJK TC"/>
              </a:rPr>
              <a:t>目前live chain不自動跑或等待G3／custom；缺分數保持不足證據</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MetaFind｜Table 1 評估與 Stage 2</dc:title>
  <dc:subject>Notion 研究指南簡報；附逐頁講稿</dc:subject>
  <dc:creator>MetaFindV1</dc:creator>
  <cp:keywords>MetaFind, Table 1, Stage 2, reproduction, 自訂評估</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